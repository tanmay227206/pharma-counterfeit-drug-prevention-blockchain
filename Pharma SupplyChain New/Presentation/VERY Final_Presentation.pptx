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300" r:id="rId6"/>
    <p:sldId id="260" r:id="rId7"/>
    <p:sldId id="280" r:id="rId8"/>
    <p:sldId id="268" r:id="rId9"/>
    <p:sldId id="267" r:id="rId10"/>
    <p:sldId id="272" r:id="rId11"/>
    <p:sldId id="273" r:id="rId12"/>
    <p:sldId id="298" r:id="rId13"/>
    <p:sldId id="269" r:id="rId14"/>
    <p:sldId id="293" r:id="rId15"/>
    <p:sldId id="294" r:id="rId16"/>
    <p:sldId id="295" r:id="rId17"/>
    <p:sldId id="299" r:id="rId18"/>
    <p:sldId id="301" r:id="rId19"/>
    <p:sldId id="302" r:id="rId20"/>
    <p:sldId id="303" r:id="rId21"/>
    <p:sldId id="304" r:id="rId22"/>
    <p:sldId id="281" r:id="rId23"/>
    <p:sldId id="288" r:id="rId24"/>
    <p:sldId id="290" r:id="rId25"/>
    <p:sldId id="289" r:id="rId26"/>
    <p:sldId id="291" r:id="rId27"/>
    <p:sldId id="274" r:id="rId28"/>
    <p:sldId id="275" r:id="rId29"/>
    <p:sldId id="286" r:id="rId30"/>
    <p:sldId id="287" r:id="rId31"/>
    <p:sldId id="284" r:id="rId32"/>
    <p:sldId id="265" r:id="rId33"/>
    <p:sldId id="285" r:id="rId34"/>
    <p:sldId id="279"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6B6C34-1F5F-4254-943B-763309EFA002}" v="1" dt="2024-11-10T14:12:25.985"/>
    <p1510:client id="{A15780E4-4D49-418D-BF23-CBEB85BC11D7}" v="2" dt="2024-11-11T06:35:06.9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4660"/>
  </p:normalViewPr>
  <p:slideViewPr>
    <p:cSldViewPr snapToGrid="0">
      <p:cViewPr varScale="1">
        <p:scale>
          <a:sx n="78" d="100"/>
          <a:sy n="78" d="100"/>
        </p:scale>
        <p:origin x="1109" y="62"/>
      </p:cViewPr>
      <p:guideLst>
        <p:guide orient="horz" pos="2160"/>
        <p:guide pos="3840"/>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F644433-5221-45DA-9781-12A4260CAA8D}" type="datetimeFigureOut">
              <a:rPr lang="en-US" smtClean="0"/>
              <a:pPr/>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4A69AD-9DC9-445C-AEA0-1ABA1F3F7BBD}" type="slidenum">
              <a:rPr lang="en-US" smtClean="0"/>
              <a:pPr/>
              <a:t>‹#›</a:t>
            </a:fld>
            <a:endParaRPr lang="en-US"/>
          </a:p>
        </p:txBody>
      </p:sp>
    </p:spTree>
    <p:extLst>
      <p:ext uri="{BB962C8B-B14F-4D97-AF65-F5344CB8AC3E}">
        <p14:creationId xmlns:p14="http://schemas.microsoft.com/office/powerpoint/2010/main" val="3332921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644433-5221-45DA-9781-12A4260CAA8D}" type="datetimeFigureOut">
              <a:rPr lang="en-US" smtClean="0"/>
              <a:pPr/>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4A69AD-9DC9-445C-AEA0-1ABA1F3F7BBD}" type="slidenum">
              <a:rPr lang="en-US" smtClean="0"/>
              <a:pPr/>
              <a:t>‹#›</a:t>
            </a:fld>
            <a:endParaRPr lang="en-US"/>
          </a:p>
        </p:txBody>
      </p:sp>
    </p:spTree>
    <p:extLst>
      <p:ext uri="{BB962C8B-B14F-4D97-AF65-F5344CB8AC3E}">
        <p14:creationId xmlns:p14="http://schemas.microsoft.com/office/powerpoint/2010/main" val="2856308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644433-5221-45DA-9781-12A4260CAA8D}" type="datetimeFigureOut">
              <a:rPr lang="en-US" smtClean="0"/>
              <a:pPr/>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4A69AD-9DC9-445C-AEA0-1ABA1F3F7BBD}" type="slidenum">
              <a:rPr lang="en-US" smtClean="0"/>
              <a:pPr/>
              <a:t>‹#›</a:t>
            </a:fld>
            <a:endParaRPr lang="en-US"/>
          </a:p>
        </p:txBody>
      </p:sp>
    </p:spTree>
    <p:extLst>
      <p:ext uri="{BB962C8B-B14F-4D97-AF65-F5344CB8AC3E}">
        <p14:creationId xmlns:p14="http://schemas.microsoft.com/office/powerpoint/2010/main" val="171416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F644433-5221-45DA-9781-12A4260CAA8D}" type="datetimeFigureOut">
              <a:rPr lang="en-US" smtClean="0"/>
              <a:pPr/>
              <a:t>6/9/2025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4A69AD-9DC9-445C-AEA0-1ABA1F3F7BBD}" type="slidenum">
              <a:rPr lang="en-US" smtClean="0"/>
              <a:pPr/>
              <a:t>‹#›</a:t>
            </a:fld>
            <a:endParaRPr lang="en-US"/>
          </a:p>
        </p:txBody>
      </p:sp>
    </p:spTree>
    <p:extLst>
      <p:ext uri="{BB962C8B-B14F-4D97-AF65-F5344CB8AC3E}">
        <p14:creationId xmlns:p14="http://schemas.microsoft.com/office/powerpoint/2010/main" val="3854997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644433-5221-45DA-9781-12A4260CAA8D}" type="datetimeFigureOut">
              <a:rPr lang="en-US" smtClean="0"/>
              <a:pPr/>
              <a:t>6/9/2025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C4A69AD-9DC9-445C-AEA0-1ABA1F3F7BBD}" type="slidenum">
              <a:rPr lang="en-US" smtClean="0"/>
              <a:pPr/>
              <a:t>‹#›</a:t>
            </a:fld>
            <a:endParaRPr lang="en-US"/>
          </a:p>
        </p:txBody>
      </p:sp>
    </p:spTree>
    <p:extLst>
      <p:ext uri="{BB962C8B-B14F-4D97-AF65-F5344CB8AC3E}">
        <p14:creationId xmlns:p14="http://schemas.microsoft.com/office/powerpoint/2010/main" val="397471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644433-5221-45DA-9781-12A4260CAA8D}" type="datetimeFigureOut">
              <a:rPr lang="en-US" smtClean="0"/>
              <a:pPr/>
              <a:t>6/9/2025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C4A69AD-9DC9-445C-AEA0-1ABA1F3F7BBD}" type="slidenum">
              <a:rPr lang="en-US" smtClean="0"/>
              <a:pPr/>
              <a:t>‹#›</a:t>
            </a:fld>
            <a:endParaRPr lang="en-US"/>
          </a:p>
        </p:txBody>
      </p:sp>
    </p:spTree>
    <p:extLst>
      <p:ext uri="{BB962C8B-B14F-4D97-AF65-F5344CB8AC3E}">
        <p14:creationId xmlns:p14="http://schemas.microsoft.com/office/powerpoint/2010/main" val="3712720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644433-5221-45DA-9781-12A4260CAA8D}" type="datetimeFigureOut">
              <a:rPr lang="en-US" smtClean="0"/>
              <a:pPr/>
              <a:t>6/9/2025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C4A69AD-9DC9-445C-AEA0-1ABA1F3F7BBD}" type="slidenum">
              <a:rPr lang="en-US" smtClean="0"/>
              <a:pPr/>
              <a:t>‹#›</a:t>
            </a:fld>
            <a:endParaRPr lang="en-US"/>
          </a:p>
        </p:txBody>
      </p:sp>
    </p:spTree>
    <p:extLst>
      <p:ext uri="{BB962C8B-B14F-4D97-AF65-F5344CB8AC3E}">
        <p14:creationId xmlns:p14="http://schemas.microsoft.com/office/powerpoint/2010/main" val="3763949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644433-5221-45DA-9781-12A4260CAA8D}" type="datetimeFigureOut">
              <a:rPr lang="en-US" smtClean="0"/>
              <a:pPr/>
              <a:t>6/9/2025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4A69AD-9DC9-445C-AEA0-1ABA1F3F7BBD}" type="slidenum">
              <a:rPr lang="en-US" smtClean="0"/>
              <a:pPr/>
              <a:t>‹#›</a:t>
            </a:fld>
            <a:endParaRPr lang="en-US"/>
          </a:p>
        </p:txBody>
      </p:sp>
    </p:spTree>
    <p:extLst>
      <p:ext uri="{BB962C8B-B14F-4D97-AF65-F5344CB8AC3E}">
        <p14:creationId xmlns:p14="http://schemas.microsoft.com/office/powerpoint/2010/main" val="2736761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644433-5221-45DA-9781-12A4260CAA8D}" type="datetimeFigureOut">
              <a:rPr lang="en-US" smtClean="0"/>
              <a:pPr/>
              <a:t>6/9/2025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4A69AD-9DC9-445C-AEA0-1ABA1F3F7BBD}" type="slidenum">
              <a:rPr lang="en-US" smtClean="0"/>
              <a:pPr/>
              <a:t>‹#›</a:t>
            </a:fld>
            <a:endParaRPr lang="en-US"/>
          </a:p>
        </p:txBody>
      </p:sp>
    </p:spTree>
    <p:extLst>
      <p:ext uri="{BB962C8B-B14F-4D97-AF65-F5344CB8AC3E}">
        <p14:creationId xmlns:p14="http://schemas.microsoft.com/office/powerpoint/2010/main" val="3162629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644433-5221-45DA-9781-12A4260CAA8D}" type="datetimeFigureOut">
              <a:rPr lang="en-US" smtClean="0"/>
              <a:pPr/>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4A69AD-9DC9-445C-AEA0-1ABA1F3F7BBD}" type="slidenum">
              <a:rPr lang="en-US" smtClean="0"/>
              <a:pPr/>
              <a:t>‹#›</a:t>
            </a:fld>
            <a:endParaRPr lang="en-US"/>
          </a:p>
        </p:txBody>
      </p:sp>
    </p:spTree>
    <p:extLst>
      <p:ext uri="{BB962C8B-B14F-4D97-AF65-F5344CB8AC3E}">
        <p14:creationId xmlns:p14="http://schemas.microsoft.com/office/powerpoint/2010/main" val="3404649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644433-5221-45DA-9781-12A4260CAA8D}" type="datetimeFigureOut">
              <a:rPr lang="en-US" smtClean="0"/>
              <a:pPr/>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4A69AD-9DC9-445C-AEA0-1ABA1F3F7BBD}" type="slidenum">
              <a:rPr lang="en-US" smtClean="0"/>
              <a:pPr/>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1908063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644433-5221-45DA-9781-12A4260CAA8D}" type="datetimeFigureOut">
              <a:rPr lang="en-US" smtClean="0"/>
              <a:pPr/>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4A69AD-9DC9-445C-AEA0-1ABA1F3F7BBD}" type="slidenum">
              <a:rPr lang="en-US" smtClean="0"/>
              <a:pPr/>
              <a:t>‹#›</a:t>
            </a:fld>
            <a:endParaRPr lang="en-US"/>
          </a:p>
        </p:txBody>
      </p:sp>
    </p:spTree>
    <p:extLst>
      <p:ext uri="{BB962C8B-B14F-4D97-AF65-F5344CB8AC3E}">
        <p14:creationId xmlns:p14="http://schemas.microsoft.com/office/powerpoint/2010/main" val="7864426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644433-5221-45DA-9781-12A4260CAA8D}" type="datetimeFigureOut">
              <a:rPr lang="en-US" smtClean="0"/>
              <a:pPr/>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4A69AD-9DC9-445C-AEA0-1ABA1F3F7BBD}"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130713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644433-5221-45DA-9781-12A4260CAA8D}" type="datetimeFigureOut">
              <a:rPr lang="en-US" smtClean="0"/>
              <a:pPr/>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4A69AD-9DC9-445C-AEA0-1ABA1F3F7BBD}" type="slidenum">
              <a:rPr lang="en-US" smtClean="0"/>
              <a:pPr/>
              <a:t>‹#›</a:t>
            </a:fld>
            <a:endParaRPr lang="en-US"/>
          </a:p>
        </p:txBody>
      </p:sp>
    </p:spTree>
    <p:extLst>
      <p:ext uri="{BB962C8B-B14F-4D97-AF65-F5344CB8AC3E}">
        <p14:creationId xmlns:p14="http://schemas.microsoft.com/office/powerpoint/2010/main" val="2422312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644433-5221-45DA-9781-12A4260CAA8D}" type="datetimeFigureOut">
              <a:rPr lang="en-US" smtClean="0"/>
              <a:pPr/>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4A69AD-9DC9-445C-AEA0-1ABA1F3F7BBD}" type="slidenum">
              <a:rPr lang="en-US" smtClean="0"/>
              <a:pPr/>
              <a:t>‹#›</a:t>
            </a:fld>
            <a:endParaRPr lang="en-US"/>
          </a:p>
        </p:txBody>
      </p:sp>
    </p:spTree>
    <p:extLst>
      <p:ext uri="{BB962C8B-B14F-4D97-AF65-F5344CB8AC3E}">
        <p14:creationId xmlns:p14="http://schemas.microsoft.com/office/powerpoint/2010/main" val="26241039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644433-5221-45DA-9781-12A4260CAA8D}" type="datetimeFigureOut">
              <a:rPr lang="en-US" smtClean="0"/>
              <a:pPr/>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4A69AD-9DC9-445C-AEA0-1ABA1F3F7BBD}" type="slidenum">
              <a:rPr lang="en-US" smtClean="0"/>
              <a:pPr/>
              <a:t>‹#›</a:t>
            </a:fld>
            <a:endParaRPr lang="en-US"/>
          </a:p>
        </p:txBody>
      </p:sp>
    </p:spTree>
    <p:extLst>
      <p:ext uri="{BB962C8B-B14F-4D97-AF65-F5344CB8AC3E}">
        <p14:creationId xmlns:p14="http://schemas.microsoft.com/office/powerpoint/2010/main" val="35054462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644433-5221-45DA-9781-12A4260CAA8D}" type="datetimeFigureOut">
              <a:rPr lang="en-US" smtClean="0"/>
              <a:pPr/>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4A69AD-9DC9-445C-AEA0-1ABA1F3F7BBD}" type="slidenum">
              <a:rPr lang="en-US" smtClean="0"/>
              <a:pPr/>
              <a:t>‹#›</a:t>
            </a:fld>
            <a:endParaRPr lang="en-US"/>
          </a:p>
        </p:txBody>
      </p:sp>
    </p:spTree>
    <p:extLst>
      <p:ext uri="{BB962C8B-B14F-4D97-AF65-F5344CB8AC3E}">
        <p14:creationId xmlns:p14="http://schemas.microsoft.com/office/powerpoint/2010/main" val="3789919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F644433-5221-45DA-9781-12A4260CAA8D}" type="datetimeFigureOut">
              <a:rPr lang="en-US" smtClean="0"/>
              <a:pPr/>
              <a:t>6/9/2025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C4A69AD-9DC9-445C-AEA0-1ABA1F3F7BBD}" type="slidenum">
              <a:rPr lang="en-US" smtClean="0"/>
              <a:pPr/>
              <a:t>‹#›</a:t>
            </a:fld>
            <a:endParaRPr lang="en-US"/>
          </a:p>
        </p:txBody>
      </p:sp>
    </p:spTree>
    <p:extLst>
      <p:ext uri="{BB962C8B-B14F-4D97-AF65-F5344CB8AC3E}">
        <p14:creationId xmlns:p14="http://schemas.microsoft.com/office/powerpoint/2010/main" val="424278738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80729" y="2321828"/>
            <a:ext cx="9144000" cy="2180717"/>
          </a:xfrm>
        </p:spPr>
        <p:txBody>
          <a:bodyPr>
            <a:normAutofit fontScale="90000"/>
          </a:bodyPr>
          <a:lstStyle/>
          <a:p>
            <a:r>
              <a:rPr lang="en-US" cap="none" dirty="0">
                <a:latin typeface="Times New Roman" panose="02020603050405020304" pitchFamily="18" charset="0"/>
                <a:cs typeface="Times New Roman" panose="02020603050405020304" pitchFamily="18" charset="0"/>
              </a:rPr>
              <a:t>Pharma and Counterfeit Drug Prevention Supply Chain and Smart Contracts System in Blockchain</a:t>
            </a:r>
          </a:p>
        </p:txBody>
      </p:sp>
      <p:pic>
        <p:nvPicPr>
          <p:cNvPr id="3" name="Picture 2" descr="D:\A DATA\Team 2023\Ashutosh Shelke\BE project report format\logo.png"/>
          <p:cNvPicPr/>
          <p:nvPr/>
        </p:nvPicPr>
        <p:blipFill>
          <a:blip r:embed="rId2">
            <a:extLst>
              <a:ext uri="{28A0092B-C50C-407E-A947-70E740481C1C}">
                <a14:useLocalDpi xmlns:a14="http://schemas.microsoft.com/office/drawing/2010/main" val="0"/>
              </a:ext>
            </a:extLst>
          </a:blip>
          <a:srcRect/>
          <a:stretch>
            <a:fillRect/>
          </a:stretch>
        </p:blipFill>
        <p:spPr bwMode="auto">
          <a:xfrm>
            <a:off x="10168551" y="171450"/>
            <a:ext cx="1647825" cy="1943100"/>
          </a:xfrm>
          <a:prstGeom prst="rect">
            <a:avLst/>
          </a:prstGeom>
          <a:noFill/>
          <a:ln>
            <a:noFill/>
          </a:ln>
        </p:spPr>
      </p:pic>
      <p:sp>
        <p:nvSpPr>
          <p:cNvPr id="4" name="Rectangle 3"/>
          <p:cNvSpPr/>
          <p:nvPr/>
        </p:nvSpPr>
        <p:spPr>
          <a:xfrm>
            <a:off x="1401097" y="752168"/>
            <a:ext cx="6946490" cy="1569660"/>
          </a:xfrm>
          <a:prstGeom prst="rect">
            <a:avLst/>
          </a:prstGeom>
        </p:spPr>
        <p:txBody>
          <a:bodyPr wrap="square">
            <a:spAutoFit/>
          </a:bodyPr>
          <a:lstStyle/>
          <a:p>
            <a:pPr algn="ctr"/>
            <a:r>
              <a:rPr lang="en-US" sz="2400" b="1" dirty="0">
                <a:latin typeface="Times New Roman" pitchFamily="18" charset="0"/>
                <a:cs typeface="Times New Roman" pitchFamily="18" charset="0"/>
              </a:rPr>
              <a:t>Savitribai Phule University Affiliated Matoshri College of Engineering and Research Centre</a:t>
            </a:r>
            <a:endParaRPr lang="en-IN" sz="2400" b="1" dirty="0">
              <a:latin typeface="Times New Roman" pitchFamily="18" charset="0"/>
              <a:cs typeface="Times New Roman" pitchFamily="18" charset="0"/>
            </a:endParaRPr>
          </a:p>
          <a:p>
            <a:pPr algn="ctr"/>
            <a:r>
              <a:rPr lang="en-US" sz="2400" b="1" dirty="0">
                <a:latin typeface="Times New Roman" pitchFamily="18" charset="0"/>
                <a:cs typeface="Times New Roman" pitchFamily="18" charset="0"/>
              </a:rPr>
              <a:t>Nashik</a:t>
            </a:r>
            <a:endParaRPr lang="en-IN" sz="2400" b="1" dirty="0">
              <a:latin typeface="Times New Roman" pitchFamily="18" charset="0"/>
              <a:cs typeface="Times New Roman" pitchFamily="18" charset="0"/>
            </a:endParaRPr>
          </a:p>
          <a:p>
            <a:pPr algn="ctr"/>
            <a:r>
              <a:rPr lang="en-US" sz="2400" dirty="0">
                <a:latin typeface="Times New Roman" pitchFamily="18" charset="0"/>
                <a:cs typeface="Times New Roman" pitchFamily="18" charset="0"/>
              </a:rPr>
              <a:t>Department of Computer Engineering 2024– 2025</a:t>
            </a:r>
            <a:endParaRPr lang="en-IN" sz="2400" dirty="0">
              <a:latin typeface="Times New Roman" pitchFamily="18" charset="0"/>
              <a:cs typeface="Times New Roman"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859522826"/>
              </p:ext>
            </p:extLst>
          </p:nvPr>
        </p:nvGraphicFramePr>
        <p:xfrm>
          <a:off x="1267286" y="5244367"/>
          <a:ext cx="2390314" cy="1219200"/>
        </p:xfrm>
        <a:graphic>
          <a:graphicData uri="http://schemas.openxmlformats.org/drawingml/2006/table">
            <a:tbl>
              <a:tblPr/>
              <a:tblGrid>
                <a:gridCol w="2390314">
                  <a:extLst>
                    <a:ext uri="{9D8B030D-6E8A-4147-A177-3AD203B41FA5}">
                      <a16:colId xmlns:a16="http://schemas.microsoft.com/office/drawing/2014/main" val="20000"/>
                    </a:ext>
                  </a:extLst>
                </a:gridCol>
              </a:tblGrid>
              <a:tr h="0">
                <a:tc>
                  <a:txBody>
                    <a:bodyPr/>
                    <a:lstStyle/>
                    <a:p>
                      <a:pPr rtl="0" fontAlgn="b"/>
                      <a:r>
                        <a:rPr lang="en-IN" sz="2000" dirty="0">
                          <a:effectLst/>
                          <a:latin typeface="Cambria" pitchFamily="18" charset="0"/>
                          <a:ea typeface="Cambria" pitchFamily="18" charset="0"/>
                        </a:rPr>
                        <a:t>1. Nitin Aher </a:t>
                      </a:r>
                    </a:p>
                  </a:txBody>
                  <a:tcPr marL="28575" marR="28575" marT="0" marB="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00025">
                <a:tc>
                  <a:txBody>
                    <a:bodyPr/>
                    <a:lstStyle/>
                    <a:p>
                      <a:pPr rtl="0" fontAlgn="b"/>
                      <a:r>
                        <a:rPr lang="en-IN" sz="2000" dirty="0">
                          <a:effectLst/>
                          <a:latin typeface="Cambria" pitchFamily="18" charset="0"/>
                          <a:ea typeface="Cambria" pitchFamily="18" charset="0"/>
                        </a:rPr>
                        <a:t>2. Tanmay Mahale</a:t>
                      </a:r>
                    </a:p>
                  </a:txBody>
                  <a:tcPr marL="28575" marR="28575" marT="0" marB="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00025">
                <a:tc>
                  <a:txBody>
                    <a:bodyPr/>
                    <a:lstStyle/>
                    <a:p>
                      <a:pPr rtl="0" fontAlgn="b"/>
                      <a:r>
                        <a:rPr lang="en-IN" sz="2000" dirty="0">
                          <a:effectLst/>
                          <a:latin typeface="Cambria" pitchFamily="18" charset="0"/>
                          <a:ea typeface="Cambria" pitchFamily="18" charset="0"/>
                        </a:rPr>
                        <a:t>3.</a:t>
                      </a:r>
                      <a:r>
                        <a:rPr lang="en-IN" sz="2000" baseline="0" dirty="0">
                          <a:effectLst/>
                          <a:latin typeface="Cambria" pitchFamily="18" charset="0"/>
                          <a:ea typeface="Cambria" pitchFamily="18" charset="0"/>
                        </a:rPr>
                        <a:t> </a:t>
                      </a:r>
                      <a:r>
                        <a:rPr lang="en-IN" sz="2000" dirty="0">
                          <a:effectLst/>
                          <a:latin typeface="Cambria" pitchFamily="18" charset="0"/>
                          <a:ea typeface="Cambria" pitchFamily="18" charset="0"/>
                        </a:rPr>
                        <a:t>Sopan Patil </a:t>
                      </a:r>
                    </a:p>
                  </a:txBody>
                  <a:tcPr marL="28575" marR="28575" marT="0" marB="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00025">
                <a:tc>
                  <a:txBody>
                    <a:bodyPr/>
                    <a:lstStyle/>
                    <a:p>
                      <a:pPr rtl="0" fontAlgn="b"/>
                      <a:r>
                        <a:rPr lang="en-IN" sz="2000" dirty="0">
                          <a:effectLst/>
                          <a:latin typeface="Cambria" pitchFamily="18" charset="0"/>
                          <a:ea typeface="Cambria" pitchFamily="18" charset="0"/>
                        </a:rPr>
                        <a:t>4. Ajay Jadhav</a:t>
                      </a:r>
                    </a:p>
                  </a:txBody>
                  <a:tcPr marL="28575" marR="28575" marT="0" marB="0" anchor="b">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Rectangle 5"/>
          <p:cNvSpPr/>
          <p:nvPr/>
        </p:nvSpPr>
        <p:spPr>
          <a:xfrm>
            <a:off x="1401097" y="4822412"/>
            <a:ext cx="2032929" cy="369332"/>
          </a:xfrm>
          <a:prstGeom prst="rect">
            <a:avLst/>
          </a:prstGeom>
        </p:spPr>
        <p:txBody>
          <a:bodyPr wrap="none">
            <a:spAutoFit/>
          </a:bodyPr>
          <a:lstStyle/>
          <a:p>
            <a:r>
              <a:rPr lang="en-IN" b="1" dirty="0">
                <a:latin typeface="Cambria" pitchFamily="18" charset="0"/>
                <a:ea typeface="Cambria" pitchFamily="18" charset="0"/>
              </a:rPr>
              <a:t>Members Details:</a:t>
            </a:r>
            <a:endParaRPr lang="en-IN" b="1" dirty="0"/>
          </a:p>
        </p:txBody>
      </p:sp>
      <p:sp>
        <p:nvSpPr>
          <p:cNvPr id="7" name="TextBox 6">
            <a:extLst>
              <a:ext uri="{FF2B5EF4-FFF2-40B4-BE49-F238E27FC236}">
                <a16:creationId xmlns:a16="http://schemas.microsoft.com/office/drawing/2014/main" id="{F53C301B-FD19-5270-E126-6070BFD987E8}"/>
              </a:ext>
            </a:extLst>
          </p:cNvPr>
          <p:cNvSpPr txBox="1"/>
          <p:nvPr/>
        </p:nvSpPr>
        <p:spPr>
          <a:xfrm>
            <a:off x="6381135" y="5486400"/>
            <a:ext cx="3549445"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Guide Name:Dr V H Patil</a:t>
            </a:r>
          </a:p>
        </p:txBody>
      </p:sp>
    </p:spTree>
    <p:extLst>
      <p:ext uri="{BB962C8B-B14F-4D97-AF65-F5344CB8AC3E}">
        <p14:creationId xmlns:p14="http://schemas.microsoft.com/office/powerpoint/2010/main" val="3187511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921" y="202880"/>
            <a:ext cx="10364451" cy="600683"/>
          </a:xfrm>
        </p:spPr>
        <p:txBody>
          <a:bodyPr>
            <a:normAutofit fontScale="90000"/>
          </a:bodyPr>
          <a:lstStyle/>
          <a:p>
            <a:r>
              <a:rPr lang="en-US" b="1" dirty="0">
                <a:latin typeface="Calibri" panose="020F0502020204030204" pitchFamily="34" charset="0"/>
                <a:cs typeface="Calibri" panose="020F0502020204030204" pitchFamily="34" charset="0"/>
              </a:rPr>
              <a:t>Contents</a:t>
            </a:r>
          </a:p>
        </p:txBody>
      </p:sp>
      <p:sp>
        <p:nvSpPr>
          <p:cNvPr id="3" name="Content Placeholder 2"/>
          <p:cNvSpPr>
            <a:spLocks noGrp="1"/>
          </p:cNvSpPr>
          <p:nvPr>
            <p:ph sz="quarter" idx="13"/>
          </p:nvPr>
        </p:nvSpPr>
        <p:spPr>
          <a:xfrm>
            <a:off x="1640020" y="1047134"/>
            <a:ext cx="8064419" cy="4181054"/>
          </a:xfrm>
        </p:spPr>
        <p:txBody>
          <a:bodyPr>
            <a:normAutofit/>
          </a:bodyPr>
          <a:lstStyle/>
          <a:p>
            <a:pPr>
              <a:buFont typeface="Wingdings" panose="05000000000000000000" pitchFamily="2" charset="2"/>
              <a:buChar char="Ø"/>
            </a:pPr>
            <a:r>
              <a:rPr lang="en-US" sz="2000" b="1" dirty="0">
                <a:latin typeface="Calibri" panose="020F0502020204030204" pitchFamily="34" charset="0"/>
                <a:cs typeface="Calibri" panose="020F0502020204030204" pitchFamily="34" charset="0"/>
              </a:rPr>
              <a:t>Introduction</a:t>
            </a:r>
          </a:p>
          <a:p>
            <a:pPr>
              <a:buFont typeface="Wingdings" panose="05000000000000000000" pitchFamily="2" charset="2"/>
              <a:buChar char="Ø"/>
            </a:pPr>
            <a:r>
              <a:rPr lang="en-US" sz="2000" b="1" dirty="0">
                <a:latin typeface="Calibri" panose="020F0502020204030204" pitchFamily="34" charset="0"/>
                <a:cs typeface="Calibri" panose="020F0502020204030204" pitchFamily="34" charset="0"/>
              </a:rPr>
              <a:t>Literature Survey</a:t>
            </a:r>
          </a:p>
          <a:p>
            <a:pPr>
              <a:buFont typeface="Wingdings" panose="05000000000000000000" pitchFamily="2" charset="2"/>
              <a:buChar char="Ø"/>
            </a:pPr>
            <a:r>
              <a:rPr lang="en-US" sz="2000" b="1" dirty="0">
                <a:latin typeface="Calibri" panose="020F0502020204030204" pitchFamily="34" charset="0"/>
                <a:cs typeface="Calibri" panose="020F0502020204030204" pitchFamily="34" charset="0"/>
              </a:rPr>
              <a:t>Motivation</a:t>
            </a:r>
          </a:p>
          <a:p>
            <a:pPr>
              <a:buFont typeface="Wingdings" panose="05000000000000000000" pitchFamily="2" charset="2"/>
              <a:buChar char="Ø"/>
            </a:pPr>
            <a:r>
              <a:rPr lang="en-US" sz="2000" b="1" dirty="0">
                <a:latin typeface="Calibri" panose="020F0502020204030204" pitchFamily="34" charset="0"/>
                <a:cs typeface="Calibri" panose="020F0502020204030204" pitchFamily="34" charset="0"/>
              </a:rPr>
              <a:t>Problem statement</a:t>
            </a:r>
          </a:p>
          <a:p>
            <a:pPr>
              <a:buFont typeface="Wingdings" panose="05000000000000000000" pitchFamily="2" charset="2"/>
              <a:buChar char="Ø"/>
            </a:pPr>
            <a:r>
              <a:rPr lang="en-US" sz="2000" b="1" dirty="0">
                <a:latin typeface="Calibri" panose="020F0502020204030204" pitchFamily="34" charset="0"/>
                <a:cs typeface="Calibri" panose="020F0502020204030204" pitchFamily="34" charset="0"/>
              </a:rPr>
              <a:t>Objectives</a:t>
            </a:r>
          </a:p>
          <a:p>
            <a:pPr>
              <a:buFont typeface="Wingdings" panose="05000000000000000000" pitchFamily="2" charset="2"/>
              <a:buChar char="Ø"/>
            </a:pPr>
            <a:r>
              <a:rPr lang="en-US" sz="2000" b="1" dirty="0">
                <a:latin typeface="Calibri" panose="020F0502020204030204" pitchFamily="34" charset="0"/>
                <a:cs typeface="Calibri" panose="020F0502020204030204" pitchFamily="34" charset="0"/>
              </a:rPr>
              <a:t>System architecture</a:t>
            </a:r>
          </a:p>
          <a:p>
            <a:pPr>
              <a:buFont typeface="Wingdings" panose="05000000000000000000" pitchFamily="2" charset="2"/>
              <a:buChar char="Ø"/>
            </a:pPr>
            <a:r>
              <a:rPr lang="en-US" sz="2000" b="1" dirty="0">
                <a:latin typeface="Calibri" panose="020F0502020204030204" pitchFamily="34" charset="0"/>
                <a:cs typeface="Calibri" panose="020F0502020204030204" pitchFamily="34" charset="0"/>
              </a:rPr>
              <a:t>Modules of the project</a:t>
            </a:r>
          </a:p>
          <a:p>
            <a:pPr>
              <a:buFont typeface="Wingdings" panose="05000000000000000000" pitchFamily="2" charset="2"/>
              <a:buChar char="Ø"/>
            </a:pPr>
            <a:r>
              <a:rPr lang="en-US" sz="2000" b="1">
                <a:latin typeface="Calibri" panose="020F0502020204030204" pitchFamily="34" charset="0"/>
                <a:cs typeface="Calibri" panose="020F0502020204030204" pitchFamily="34" charset="0"/>
              </a:rPr>
              <a:t>Algorithm Details</a:t>
            </a:r>
            <a:endParaRPr lang="en-US" sz="2000" b="1" dirty="0">
              <a:latin typeface="Calibri" panose="020F0502020204030204" pitchFamily="34" charset="0"/>
              <a:cs typeface="Calibri" panose="020F0502020204030204" pitchFamily="34" charset="0"/>
            </a:endParaRPr>
          </a:p>
        </p:txBody>
      </p:sp>
      <p:sp>
        <p:nvSpPr>
          <p:cNvPr id="4" name="Content Placeholder 2"/>
          <p:cNvSpPr txBox="1">
            <a:spLocks/>
          </p:cNvSpPr>
          <p:nvPr/>
        </p:nvSpPr>
        <p:spPr>
          <a:xfrm>
            <a:off x="6658326" y="1216856"/>
            <a:ext cx="3252591" cy="4594010"/>
          </a:xfrm>
          <a:prstGeom prst="rect">
            <a:avLst/>
          </a:prstGeom>
        </p:spPr>
        <p:txBody>
          <a:bodyPr vert="horz" lIns="91440" tIns="45720" rIns="91440" bIns="45720" rtlCol="0">
            <a:normAutofit/>
          </a:bodyPr>
          <a:lstStyle/>
          <a:p>
            <a:pPr marL="285750" lvl="0" indent="-285750" defTabSz="914400">
              <a:lnSpc>
                <a:spcPct val="120000"/>
              </a:lnSpc>
              <a:spcBef>
                <a:spcPts val="1000"/>
              </a:spcBef>
              <a:buClr>
                <a:srgbClr val="92D050"/>
              </a:buClr>
              <a:buFont typeface="Wingdings" panose="05000000000000000000" pitchFamily="2" charset="2"/>
              <a:buChar char="Ø"/>
              <a:defRPr/>
            </a:pPr>
            <a:r>
              <a:rPr lang="en-US" sz="2000" b="1" dirty="0">
                <a:latin typeface="Calibri" panose="020F0502020204030204" pitchFamily="34" charset="0"/>
                <a:cs typeface="Calibri" panose="020F0502020204030204" pitchFamily="34" charset="0"/>
              </a:rPr>
              <a:t>Design of the system</a:t>
            </a:r>
            <a:endParaRPr kumimoji="0" lang="en-US" sz="2000" b="1" i="0" u="none" strike="noStrike" kern="1200"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a:p>
            <a:pPr marL="285750" marR="0" lvl="0" indent="-285750" algn="l" defTabSz="914400" rtl="0" eaLnBrk="1" fontAlgn="auto" latinLnBrk="0" hangingPunct="1">
              <a:lnSpc>
                <a:spcPct val="120000"/>
              </a:lnSpc>
              <a:spcBef>
                <a:spcPts val="1000"/>
              </a:spcBef>
              <a:spcAft>
                <a:spcPts val="0"/>
              </a:spcAft>
              <a:buClr>
                <a:srgbClr val="92D050"/>
              </a:buClr>
              <a:buSzTx/>
              <a:buFont typeface="Wingdings" panose="05000000000000000000" pitchFamily="2" charset="2"/>
              <a:buChar char="Ø"/>
              <a:tabLst/>
              <a:defRPr/>
            </a:pPr>
            <a:r>
              <a:rPr kumimoji="0" lang="en-US" sz="2000" b="1" i="0" u="none" strike="noStrike" kern="1200"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rPr>
              <a:t>Implementation details of the first module</a:t>
            </a:r>
          </a:p>
          <a:p>
            <a:pPr marL="285750" marR="0" lvl="0" indent="-285750" algn="l" defTabSz="914400" rtl="0" eaLnBrk="1" fontAlgn="auto" latinLnBrk="0" hangingPunct="1">
              <a:lnSpc>
                <a:spcPct val="120000"/>
              </a:lnSpc>
              <a:spcBef>
                <a:spcPts val="1000"/>
              </a:spcBef>
              <a:spcAft>
                <a:spcPts val="0"/>
              </a:spcAft>
              <a:buClr>
                <a:srgbClr val="92D050"/>
              </a:buClr>
              <a:buSzTx/>
              <a:buFont typeface="Wingdings" panose="05000000000000000000" pitchFamily="2" charset="2"/>
              <a:buChar char="Ø"/>
              <a:tabLst/>
              <a:defRPr/>
            </a:pPr>
            <a:r>
              <a:rPr kumimoji="0" lang="en-US" sz="2000" b="1" i="0" u="none" strike="noStrike" kern="1200"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rPr>
              <a:t>Conclusion</a:t>
            </a:r>
          </a:p>
          <a:p>
            <a:pPr marL="285750" marR="0" lvl="0" indent="-285750" algn="l" defTabSz="914400" rtl="0" eaLnBrk="1" fontAlgn="auto" latinLnBrk="0" hangingPunct="1">
              <a:lnSpc>
                <a:spcPct val="120000"/>
              </a:lnSpc>
              <a:spcBef>
                <a:spcPts val="1000"/>
              </a:spcBef>
              <a:spcAft>
                <a:spcPts val="0"/>
              </a:spcAft>
              <a:buClr>
                <a:srgbClr val="92D050"/>
              </a:buClr>
              <a:buSzTx/>
              <a:buFont typeface="Wingdings" panose="05000000000000000000" pitchFamily="2" charset="2"/>
              <a:buChar char="Ø"/>
              <a:tabLst/>
              <a:defRPr/>
            </a:pPr>
            <a:r>
              <a:rPr kumimoji="0" lang="en-US" sz="2000" b="1" i="0" u="none" strike="noStrike" kern="1200"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rPr>
              <a:t>Reference</a:t>
            </a:r>
          </a:p>
        </p:txBody>
      </p:sp>
    </p:spTree>
    <p:extLst>
      <p:ext uri="{BB962C8B-B14F-4D97-AF65-F5344CB8AC3E}">
        <p14:creationId xmlns:p14="http://schemas.microsoft.com/office/powerpoint/2010/main" val="79456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7"/>
            <a:ext cx="10364451" cy="1141011"/>
          </a:xfrm>
        </p:spPr>
        <p:txBody>
          <a:bodyPr/>
          <a:lstStyle/>
          <a:p>
            <a:r>
              <a:rPr lang="en-US" b="1" dirty="0">
                <a:latin typeface="Calibri" panose="020F0502020204030204" pitchFamily="34" charset="0"/>
                <a:cs typeface="Calibri" panose="020F0502020204030204" pitchFamily="34" charset="0"/>
              </a:rPr>
              <a:t>Introduction</a:t>
            </a:r>
          </a:p>
        </p:txBody>
      </p:sp>
      <p:sp>
        <p:nvSpPr>
          <p:cNvPr id="3" name="Content Placeholder 2"/>
          <p:cNvSpPr>
            <a:spLocks noGrp="1"/>
          </p:cNvSpPr>
          <p:nvPr>
            <p:ph sz="quarter" idx="13"/>
          </p:nvPr>
        </p:nvSpPr>
        <p:spPr>
          <a:xfrm>
            <a:off x="402249" y="1615743"/>
            <a:ext cx="11319164" cy="4667070"/>
          </a:xfrm>
        </p:spPr>
        <p:txBody>
          <a:bodyPr>
            <a:noAutofit/>
          </a:bodyPr>
          <a:lstStyle/>
          <a:p>
            <a:pPr algn="just"/>
            <a:r>
              <a:rPr lang="en-US" sz="2200" cap="none" dirty="0">
                <a:latin typeface="Cambria" pitchFamily="18" charset="0"/>
                <a:ea typeface="Cambria" pitchFamily="18" charset="0"/>
                <a:cs typeface="Calibri" panose="020F0502020204030204" pitchFamily="34" charset="0"/>
              </a:rPr>
              <a:t>The pharmaceutical industry faces significant challenges with counterfeit drugs, which pose serious risks to patient safety and public health. To combat this issue, the integration of blockchain technology offers a promising solution by enhancing transparency and traceability in the supply chain. </a:t>
            </a:r>
          </a:p>
          <a:p>
            <a:pPr algn="just"/>
            <a:r>
              <a:rPr lang="en-US" sz="2200" cap="none" dirty="0">
                <a:latin typeface="Cambria" pitchFamily="18" charset="0"/>
                <a:ea typeface="Cambria" pitchFamily="18" charset="0"/>
                <a:cs typeface="Calibri" panose="020F0502020204030204" pitchFamily="34" charset="0"/>
              </a:rPr>
              <a:t>This project aims to develop a robust system that utilizes smart contracts within a healthcare blockchain framework to ensure the authenticity of drugs. By securely tracking the entire lifecycle of pharmaceutical products—from production to distribution—we can effectively prevent counterfeit drugs from entering the market. </a:t>
            </a:r>
          </a:p>
          <a:p>
            <a:pPr algn="just"/>
            <a:r>
              <a:rPr lang="en-US" sz="2200" cap="none" dirty="0">
                <a:latin typeface="Cambria" pitchFamily="18" charset="0"/>
                <a:ea typeface="Cambria" pitchFamily="18" charset="0"/>
                <a:cs typeface="Calibri" panose="020F0502020204030204" pitchFamily="34" charset="0"/>
              </a:rPr>
              <a:t>This system not only safeguards patient health but also fosters trust in the pharmaceutical supply chain, benefiting stakeholders across the industry.</a:t>
            </a:r>
          </a:p>
        </p:txBody>
      </p:sp>
    </p:spTree>
    <p:extLst>
      <p:ext uri="{BB962C8B-B14F-4D97-AF65-F5344CB8AC3E}">
        <p14:creationId xmlns:p14="http://schemas.microsoft.com/office/powerpoint/2010/main" val="3064287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360218"/>
            <a:ext cx="10364451" cy="872838"/>
          </a:xfrm>
        </p:spPr>
        <p:txBody>
          <a:bodyPr/>
          <a:lstStyle/>
          <a:p>
            <a:r>
              <a:rPr lang="en-US" b="1" dirty="0">
                <a:latin typeface="Calibri" panose="020F0502020204030204" pitchFamily="34" charset="0"/>
                <a:cs typeface="Calibri" panose="020F0502020204030204" pitchFamily="34" charset="0"/>
              </a:rPr>
              <a:t>Literature survey</a:t>
            </a:r>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1707717551"/>
              </p:ext>
            </p:extLst>
          </p:nvPr>
        </p:nvGraphicFramePr>
        <p:xfrm>
          <a:off x="221673" y="1423844"/>
          <a:ext cx="11610110" cy="4971078"/>
        </p:xfrm>
        <a:graphic>
          <a:graphicData uri="http://schemas.openxmlformats.org/drawingml/2006/table">
            <a:tbl>
              <a:tblPr firstRow="1" bandRow="1">
                <a:tableStyleId>{5C22544A-7EE6-4342-B048-85BDC9FD1C3A}</a:tableStyleId>
              </a:tblPr>
              <a:tblGrid>
                <a:gridCol w="875607">
                  <a:extLst>
                    <a:ext uri="{9D8B030D-6E8A-4147-A177-3AD203B41FA5}">
                      <a16:colId xmlns:a16="http://schemas.microsoft.com/office/drawing/2014/main" val="4119530005"/>
                    </a:ext>
                  </a:extLst>
                </a:gridCol>
                <a:gridCol w="2560320">
                  <a:extLst>
                    <a:ext uri="{9D8B030D-6E8A-4147-A177-3AD203B41FA5}">
                      <a16:colId xmlns:a16="http://schemas.microsoft.com/office/drawing/2014/main" val="1543519015"/>
                    </a:ext>
                  </a:extLst>
                </a:gridCol>
                <a:gridCol w="1378634">
                  <a:extLst>
                    <a:ext uri="{9D8B030D-6E8A-4147-A177-3AD203B41FA5}">
                      <a16:colId xmlns:a16="http://schemas.microsoft.com/office/drawing/2014/main" val="3869305767"/>
                    </a:ext>
                  </a:extLst>
                </a:gridCol>
                <a:gridCol w="4010784">
                  <a:extLst>
                    <a:ext uri="{9D8B030D-6E8A-4147-A177-3AD203B41FA5}">
                      <a16:colId xmlns:a16="http://schemas.microsoft.com/office/drawing/2014/main" val="4140782951"/>
                    </a:ext>
                  </a:extLst>
                </a:gridCol>
                <a:gridCol w="2784765">
                  <a:extLst>
                    <a:ext uri="{9D8B030D-6E8A-4147-A177-3AD203B41FA5}">
                      <a16:colId xmlns:a16="http://schemas.microsoft.com/office/drawing/2014/main" val="433980290"/>
                    </a:ext>
                  </a:extLst>
                </a:gridCol>
              </a:tblGrid>
              <a:tr h="764838">
                <a:tc>
                  <a:txBody>
                    <a:bodyPr/>
                    <a:lstStyle/>
                    <a:p>
                      <a:pPr algn="ctr"/>
                      <a:r>
                        <a:rPr lang="en-US" dirty="0">
                          <a:latin typeface="Calibri" pitchFamily="34" charset="0"/>
                          <a:cs typeface="Calibri" pitchFamily="34" charset="0"/>
                        </a:rPr>
                        <a:t>Sr. No.</a:t>
                      </a:r>
                    </a:p>
                  </a:txBody>
                  <a:tcPr/>
                </a:tc>
                <a:tc>
                  <a:txBody>
                    <a:bodyPr/>
                    <a:lstStyle/>
                    <a:p>
                      <a:pPr algn="ctr"/>
                      <a:r>
                        <a:rPr lang="en-US" dirty="0">
                          <a:latin typeface="Calibri" pitchFamily="34" charset="0"/>
                          <a:cs typeface="Calibri" pitchFamily="34" charset="0"/>
                        </a:rPr>
                        <a:t>Authors</a:t>
                      </a:r>
                    </a:p>
                  </a:txBody>
                  <a:tcPr/>
                </a:tc>
                <a:tc>
                  <a:txBody>
                    <a:bodyPr/>
                    <a:lstStyle/>
                    <a:p>
                      <a:pPr algn="ctr"/>
                      <a:r>
                        <a:rPr lang="en-US" dirty="0">
                          <a:latin typeface="Calibri" pitchFamily="34" charset="0"/>
                          <a:cs typeface="Calibri" pitchFamily="34" charset="0"/>
                        </a:rPr>
                        <a:t>Algorithm </a:t>
                      </a:r>
                    </a:p>
                  </a:txBody>
                  <a:tcPr/>
                </a:tc>
                <a:tc>
                  <a:txBody>
                    <a:bodyPr/>
                    <a:lstStyle/>
                    <a:p>
                      <a:pPr algn="ctr"/>
                      <a:r>
                        <a:rPr lang="en-US" dirty="0">
                          <a:latin typeface="Calibri" pitchFamily="34" charset="0"/>
                          <a:cs typeface="Calibri" pitchFamily="34" charset="0"/>
                        </a:rPr>
                        <a:t>Advantage</a:t>
                      </a:r>
                    </a:p>
                  </a:txBody>
                  <a:tcPr/>
                </a:tc>
                <a:tc>
                  <a:txBody>
                    <a:bodyPr/>
                    <a:lstStyle/>
                    <a:p>
                      <a:pPr algn="ctr"/>
                      <a:r>
                        <a:rPr lang="en-US" dirty="0">
                          <a:latin typeface="Calibri" pitchFamily="34" charset="0"/>
                          <a:cs typeface="Calibri" pitchFamily="34" charset="0"/>
                        </a:rPr>
                        <a:t>Limitation </a:t>
                      </a:r>
                    </a:p>
                  </a:txBody>
                  <a:tcPr/>
                </a:tc>
                <a:extLst>
                  <a:ext uri="{0D108BD9-81ED-4DB2-BD59-A6C34878D82A}">
                    <a16:rowId xmlns:a16="http://schemas.microsoft.com/office/drawing/2014/main" val="2003061811"/>
                  </a:ext>
                </a:extLst>
              </a:tr>
              <a:tr h="764838">
                <a:tc>
                  <a:txBody>
                    <a:bodyPr/>
                    <a:lstStyle/>
                    <a:p>
                      <a:r>
                        <a:rPr lang="en-US" dirty="0">
                          <a:latin typeface="Calibri" pitchFamily="34" charset="0"/>
                          <a:cs typeface="Calibri" pitchFamily="34" charset="0"/>
                        </a:rPr>
                        <a:t>01</a:t>
                      </a:r>
                    </a:p>
                  </a:txBody>
                  <a:tcPr/>
                </a:tc>
                <a:tc>
                  <a:txBody>
                    <a:bodyPr/>
                    <a:lstStyle/>
                    <a:p>
                      <a:r>
                        <a:rPr lang="en-US" sz="1800" kern="1200" dirty="0">
                          <a:solidFill>
                            <a:schemeClr val="dk1"/>
                          </a:solidFill>
                          <a:effectLst/>
                          <a:latin typeface="Calibri" pitchFamily="34" charset="0"/>
                          <a:ea typeface="+mn-ea"/>
                          <a:cs typeface="Calibri" pitchFamily="34" charset="0"/>
                        </a:rPr>
                        <a:t>Gupta A, Patel J, Gupta M, Gupta H.</a:t>
                      </a:r>
                      <a:endParaRPr lang="en-US" dirty="0">
                        <a:latin typeface="Calibri" pitchFamily="34" charset="0"/>
                        <a:cs typeface="Calibri" pitchFamily="34" charset="0"/>
                      </a:endParaRPr>
                    </a:p>
                  </a:txBody>
                  <a:tcPr/>
                </a:tc>
                <a:tc>
                  <a:txBody>
                    <a:bodyPr/>
                    <a:lstStyle/>
                    <a:p>
                      <a:r>
                        <a:rPr lang="en-US" dirty="0">
                          <a:latin typeface="Calibri" pitchFamily="34" charset="0"/>
                          <a:cs typeface="Calibri" pitchFamily="34" charset="0"/>
                        </a:rPr>
                        <a:t>Map Reduce</a:t>
                      </a:r>
                    </a:p>
                  </a:txBody>
                  <a:tcPr/>
                </a:tc>
                <a:tc>
                  <a:txBody>
                    <a:bodyPr/>
                    <a:lstStyle/>
                    <a:p>
                      <a:r>
                        <a:rPr lang="en-US" dirty="0">
                          <a:latin typeface="Calibri" pitchFamily="34" charset="0"/>
                          <a:cs typeface="Calibri" pitchFamily="34" charset="0"/>
                        </a:rPr>
                        <a:t>The technology is more scalable, tamper proof and time stamped, making health data more secure. </a:t>
                      </a:r>
                    </a:p>
                  </a:txBody>
                  <a:tcPr/>
                </a:tc>
                <a:tc>
                  <a:txBody>
                    <a:bodyPr/>
                    <a:lstStyle/>
                    <a:p>
                      <a:r>
                        <a:rPr lang="en-US" dirty="0">
                          <a:latin typeface="Calibri" pitchFamily="34" charset="0"/>
                          <a:cs typeface="Calibri" pitchFamily="34" charset="0"/>
                        </a:rPr>
                        <a:t>Large amount of Dataset Required.</a:t>
                      </a:r>
                    </a:p>
                  </a:txBody>
                  <a:tcPr/>
                </a:tc>
                <a:extLst>
                  <a:ext uri="{0D108BD9-81ED-4DB2-BD59-A6C34878D82A}">
                    <a16:rowId xmlns:a16="http://schemas.microsoft.com/office/drawing/2014/main" val="3708669040"/>
                  </a:ext>
                </a:extLst>
              </a:tr>
              <a:tr h="764838">
                <a:tc>
                  <a:txBody>
                    <a:bodyPr/>
                    <a:lstStyle/>
                    <a:p>
                      <a:r>
                        <a:rPr lang="en-US" dirty="0">
                          <a:latin typeface="Calibri" pitchFamily="34" charset="0"/>
                          <a:cs typeface="Calibri" pitchFamily="34" charset="0"/>
                        </a:rPr>
                        <a:t>02</a:t>
                      </a:r>
                    </a:p>
                  </a:txBody>
                  <a:tcPr/>
                </a:tc>
                <a:tc>
                  <a:txBody>
                    <a:bodyPr/>
                    <a:lstStyle/>
                    <a:p>
                      <a:r>
                        <a:rPr lang="en-US" sz="1800" b="0" i="0" u="none" strike="noStrike" kern="1200" baseline="0" dirty="0">
                          <a:solidFill>
                            <a:schemeClr val="dk1"/>
                          </a:solidFill>
                          <a:latin typeface="Calibri" pitchFamily="34" charset="0"/>
                          <a:ea typeface="+mn-ea"/>
                          <a:cs typeface="Calibri" pitchFamily="34" charset="0"/>
                        </a:rPr>
                        <a:t>Ariel </a:t>
                      </a:r>
                      <a:r>
                        <a:rPr lang="en-US" sz="1800" b="0" i="0" u="none" strike="noStrike" kern="1200" baseline="0" dirty="0" err="1">
                          <a:solidFill>
                            <a:schemeClr val="dk1"/>
                          </a:solidFill>
                          <a:latin typeface="Calibri" pitchFamily="34" charset="0"/>
                          <a:ea typeface="+mn-ea"/>
                          <a:cs typeface="Calibri" pitchFamily="34" charset="0"/>
                        </a:rPr>
                        <a:t>Ekblaw</a:t>
                      </a:r>
                      <a:r>
                        <a:rPr lang="en-US" sz="1800" b="0" i="0" u="none" strike="noStrike" kern="1200" baseline="0" dirty="0">
                          <a:solidFill>
                            <a:schemeClr val="dk1"/>
                          </a:solidFill>
                          <a:latin typeface="Calibri" pitchFamily="34" charset="0"/>
                          <a:ea typeface="+mn-ea"/>
                          <a:cs typeface="Calibri" pitchFamily="34" charset="0"/>
                        </a:rPr>
                        <a:t>, Asaph Azaria, John D. </a:t>
                      </a:r>
                      <a:r>
                        <a:rPr lang="en-US" sz="1800" b="0" i="0" u="none" strike="noStrike" kern="1200" baseline="0" dirty="0" err="1">
                          <a:solidFill>
                            <a:schemeClr val="dk1"/>
                          </a:solidFill>
                          <a:latin typeface="Calibri" pitchFamily="34" charset="0"/>
                          <a:ea typeface="+mn-ea"/>
                          <a:cs typeface="Calibri" pitchFamily="34" charset="0"/>
                        </a:rPr>
                        <a:t>Halamka</a:t>
                      </a:r>
                      <a:r>
                        <a:rPr lang="en-US" sz="1800" b="0" i="0" u="none" strike="noStrike" kern="1200" baseline="0" dirty="0">
                          <a:solidFill>
                            <a:schemeClr val="dk1"/>
                          </a:solidFill>
                          <a:latin typeface="Calibri" pitchFamily="34" charset="0"/>
                          <a:ea typeface="+mn-ea"/>
                          <a:cs typeface="Calibri" pitchFamily="34" charset="0"/>
                        </a:rPr>
                        <a:t>, Andrew </a:t>
                      </a:r>
                      <a:r>
                        <a:rPr lang="en-US" sz="1800" b="0" i="0" u="none" strike="noStrike" kern="1200" baseline="0" dirty="0" err="1">
                          <a:solidFill>
                            <a:schemeClr val="dk1"/>
                          </a:solidFill>
                          <a:latin typeface="Calibri" pitchFamily="34" charset="0"/>
                          <a:ea typeface="+mn-ea"/>
                          <a:cs typeface="Calibri" pitchFamily="34" charset="0"/>
                        </a:rPr>
                        <a:t>Lippman</a:t>
                      </a:r>
                      <a:r>
                        <a:rPr lang="en-US" sz="1800" b="0" i="0" u="none" strike="noStrike" kern="1200" baseline="0" dirty="0">
                          <a:solidFill>
                            <a:schemeClr val="dk1"/>
                          </a:solidFill>
                          <a:latin typeface="Calibri" pitchFamily="34" charset="0"/>
                          <a:ea typeface="+mn-ea"/>
                          <a:cs typeface="Calibri" pitchFamily="34" charset="0"/>
                        </a:rPr>
                        <a:t> </a:t>
                      </a:r>
                      <a:endParaRPr lang="en-US" dirty="0">
                        <a:latin typeface="Calibri" pitchFamily="34" charset="0"/>
                        <a:cs typeface="Calibri"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alibri" pitchFamily="34" charset="0"/>
                          <a:cs typeface="Calibri" pitchFamily="34" charset="0"/>
                        </a:rPr>
                        <a:t>Map Reduce</a:t>
                      </a:r>
                    </a:p>
                    <a:p>
                      <a:endParaRPr lang="en-US" dirty="0">
                        <a:latin typeface="Calibri" pitchFamily="34" charset="0"/>
                        <a:cs typeface="Calibri" pitchFamily="34" charset="0"/>
                      </a:endParaRPr>
                    </a:p>
                  </a:txBody>
                  <a:tcPr/>
                </a:tc>
                <a:tc>
                  <a:txBody>
                    <a:bodyPr/>
                    <a:lstStyle/>
                    <a:p>
                      <a:r>
                        <a:rPr lang="en-US" sz="1800" b="0" i="0" u="none" strike="noStrike" kern="1200" baseline="0" dirty="0">
                          <a:solidFill>
                            <a:schemeClr val="dk1"/>
                          </a:solidFill>
                          <a:latin typeface="Calibri" pitchFamily="34" charset="0"/>
                          <a:ea typeface="+mn-ea"/>
                          <a:cs typeface="Calibri" pitchFamily="34" charset="0"/>
                        </a:rPr>
                        <a:t>This system gives patients a comprehensive, immutable log and easy access to their medical information across providers and treatment sites. </a:t>
                      </a:r>
                      <a:endParaRPr lang="en-US" dirty="0">
                        <a:latin typeface="Calibri" pitchFamily="34" charset="0"/>
                        <a:cs typeface="Calibri" pitchFamily="34" charset="0"/>
                      </a:endParaRPr>
                    </a:p>
                  </a:txBody>
                  <a:tcPr/>
                </a:tc>
                <a:tc>
                  <a:txBody>
                    <a:bodyPr/>
                    <a:lstStyle/>
                    <a:p>
                      <a:r>
                        <a:rPr lang="en-US" sz="1800" b="0" i="0" u="none" strike="noStrike" kern="1200" baseline="0" dirty="0">
                          <a:solidFill>
                            <a:schemeClr val="dk1"/>
                          </a:solidFill>
                          <a:latin typeface="Calibri" pitchFamily="34" charset="0"/>
                          <a:ea typeface="+mn-ea"/>
                          <a:cs typeface="Calibri" pitchFamily="34" charset="0"/>
                        </a:rPr>
                        <a:t>face a critical need for Electronic Health Records (EHRs). </a:t>
                      </a:r>
                      <a:endParaRPr lang="en-US" dirty="0">
                        <a:latin typeface="Calibri" pitchFamily="34" charset="0"/>
                        <a:cs typeface="Calibri" pitchFamily="34" charset="0"/>
                      </a:endParaRPr>
                    </a:p>
                  </a:txBody>
                  <a:tcPr/>
                </a:tc>
                <a:extLst>
                  <a:ext uri="{0D108BD9-81ED-4DB2-BD59-A6C34878D82A}">
                    <a16:rowId xmlns:a16="http://schemas.microsoft.com/office/drawing/2014/main" val="2898070687"/>
                  </a:ext>
                </a:extLst>
              </a:tr>
              <a:tr h="764838">
                <a:tc>
                  <a:txBody>
                    <a:bodyPr/>
                    <a:lstStyle/>
                    <a:p>
                      <a:r>
                        <a:rPr lang="en-US" dirty="0">
                          <a:latin typeface="Calibri" pitchFamily="34" charset="0"/>
                          <a:cs typeface="Calibri" pitchFamily="34" charset="0"/>
                        </a:rPr>
                        <a:t>03</a:t>
                      </a:r>
                    </a:p>
                  </a:txBody>
                  <a:tcPr/>
                </a:tc>
                <a:tc>
                  <a:txBody>
                    <a:bodyPr/>
                    <a:lstStyle/>
                    <a:p>
                      <a:r>
                        <a:rPr lang="en-US" dirty="0">
                          <a:latin typeface="Calibri" pitchFamily="34" charset="0"/>
                          <a:cs typeface="Calibri" pitchFamily="34" charset="0"/>
                        </a:rPr>
                        <a:t>Jie Zhang </a:t>
                      </a:r>
                      <a:r>
                        <a:rPr lang="en-US" dirty="0" err="1">
                          <a:latin typeface="Calibri" pitchFamily="34" charset="0"/>
                          <a:cs typeface="Calibri" pitchFamily="34" charset="0"/>
                        </a:rPr>
                        <a:t>Nian</a:t>
                      </a:r>
                      <a:r>
                        <a:rPr lang="en-US" dirty="0">
                          <a:latin typeface="Calibri" pitchFamily="34" charset="0"/>
                          <a:cs typeface="Calibri" pitchFamily="34" charset="0"/>
                        </a:rPr>
                        <a:t> </a:t>
                      </a:r>
                      <a:r>
                        <a:rPr lang="en-US" dirty="0" err="1">
                          <a:latin typeface="Calibri" pitchFamily="34" charset="0"/>
                          <a:cs typeface="Calibri" pitchFamily="34" charset="0"/>
                        </a:rPr>
                        <a:t>Xue</a:t>
                      </a:r>
                      <a:r>
                        <a:rPr lang="en-US" dirty="0">
                          <a:latin typeface="Calibri" pitchFamily="34" charset="0"/>
                          <a:cs typeface="Calibri" pitchFamily="34" charset="0"/>
                        </a:rPr>
                        <a:t> and Xin Huang</a:t>
                      </a:r>
                    </a:p>
                  </a:txBody>
                  <a:tcPr/>
                </a:tc>
                <a:tc>
                  <a:txBody>
                    <a:bodyPr/>
                    <a:lstStyle/>
                    <a:p>
                      <a:r>
                        <a:rPr lang="en-US" dirty="0">
                          <a:latin typeface="Calibri" pitchFamily="34" charset="0"/>
                          <a:cs typeface="Calibri" pitchFamily="34" charset="0"/>
                        </a:rPr>
                        <a:t>Association Protocol</a:t>
                      </a:r>
                    </a:p>
                  </a:txBody>
                  <a:tcPr/>
                </a:tc>
                <a:tc>
                  <a:txBody>
                    <a:bodyPr/>
                    <a:lstStyle/>
                    <a:p>
                      <a:r>
                        <a:rPr lang="en-US" dirty="0">
                          <a:latin typeface="Calibri" pitchFamily="34" charset="0"/>
                          <a:cs typeface="Calibri" pitchFamily="34" charset="0"/>
                        </a:rPr>
                        <a:t>Propose a secure system for PSN-based healthcare.</a:t>
                      </a:r>
                    </a:p>
                  </a:txBody>
                  <a:tcPr/>
                </a:tc>
                <a:tc>
                  <a:txBody>
                    <a:bodyPr/>
                    <a:lstStyle/>
                    <a:p>
                      <a:r>
                        <a:rPr lang="en-US" dirty="0">
                          <a:latin typeface="Calibri" pitchFamily="34" charset="0"/>
                          <a:cs typeface="Calibri" pitchFamily="34" charset="0"/>
                        </a:rPr>
                        <a:t>Problem with a PSN node can securely share health data with other nodes in the network</a:t>
                      </a:r>
                    </a:p>
                  </a:txBody>
                  <a:tcPr/>
                </a:tc>
                <a:extLst>
                  <a:ext uri="{0D108BD9-81ED-4DB2-BD59-A6C34878D82A}">
                    <a16:rowId xmlns:a16="http://schemas.microsoft.com/office/drawing/2014/main" val="2080239518"/>
                  </a:ext>
                </a:extLst>
              </a:tr>
              <a:tr h="764838">
                <a:tc>
                  <a:txBody>
                    <a:bodyPr/>
                    <a:lstStyle/>
                    <a:p>
                      <a:r>
                        <a:rPr lang="en-US" dirty="0">
                          <a:latin typeface="Calibri" pitchFamily="34" charset="0"/>
                          <a:cs typeface="Calibri" pitchFamily="34" charset="0"/>
                        </a:rPr>
                        <a:t>04</a:t>
                      </a:r>
                    </a:p>
                  </a:txBody>
                  <a:tcPr/>
                </a:tc>
                <a:tc>
                  <a:txBody>
                    <a:bodyPr/>
                    <a:lstStyle/>
                    <a:p>
                      <a:r>
                        <a:rPr lang="en-US" sz="1800" b="0" i="0" u="none" strike="noStrike" kern="1200" baseline="0" dirty="0" err="1">
                          <a:solidFill>
                            <a:schemeClr val="dk1"/>
                          </a:solidFill>
                          <a:latin typeface="Calibri" pitchFamily="34" charset="0"/>
                          <a:ea typeface="+mn-ea"/>
                          <a:cs typeface="Calibri" pitchFamily="34" charset="0"/>
                        </a:rPr>
                        <a:t>Saad</a:t>
                      </a:r>
                      <a:r>
                        <a:rPr lang="en-US" sz="1800" b="0" i="0" u="none" strike="noStrike" kern="1200" baseline="0" dirty="0">
                          <a:solidFill>
                            <a:schemeClr val="dk1"/>
                          </a:solidFill>
                          <a:latin typeface="Calibri" pitchFamily="34" charset="0"/>
                          <a:ea typeface="+mn-ea"/>
                          <a:cs typeface="Calibri" pitchFamily="34" charset="0"/>
                        </a:rPr>
                        <a:t> Khan, Simon Parkinson and </a:t>
                      </a:r>
                      <a:r>
                        <a:rPr lang="en-US" sz="1800" b="0" i="0" u="none" strike="noStrike" kern="1200" baseline="0" dirty="0" err="1">
                          <a:solidFill>
                            <a:schemeClr val="dk1"/>
                          </a:solidFill>
                          <a:latin typeface="Calibri" pitchFamily="34" charset="0"/>
                          <a:ea typeface="+mn-ea"/>
                          <a:cs typeface="Calibri" pitchFamily="34" charset="0"/>
                        </a:rPr>
                        <a:t>Yongrui</a:t>
                      </a:r>
                      <a:r>
                        <a:rPr lang="en-US" sz="1800" b="0" i="0" u="none" strike="noStrike" kern="1200" baseline="0" dirty="0">
                          <a:solidFill>
                            <a:schemeClr val="dk1"/>
                          </a:solidFill>
                          <a:latin typeface="Calibri" pitchFamily="34" charset="0"/>
                          <a:ea typeface="+mn-ea"/>
                          <a:cs typeface="Calibri" pitchFamily="34" charset="0"/>
                        </a:rPr>
                        <a:t> Qin</a:t>
                      </a:r>
                      <a:endParaRPr lang="en-US" dirty="0">
                        <a:latin typeface="Calibri" pitchFamily="34" charset="0"/>
                        <a:cs typeface="Calibri" pitchFamily="34" charset="0"/>
                      </a:endParaRPr>
                    </a:p>
                  </a:txBody>
                  <a:tcPr/>
                </a:tc>
                <a:tc>
                  <a:txBody>
                    <a:bodyPr/>
                    <a:lstStyle/>
                    <a:p>
                      <a:r>
                        <a:rPr lang="en-US" dirty="0">
                          <a:latin typeface="Calibri" pitchFamily="34" charset="0"/>
                          <a:cs typeface="Calibri" pitchFamily="34" charset="0"/>
                        </a:rPr>
                        <a:t>Advanced</a:t>
                      </a:r>
                    </a:p>
                    <a:p>
                      <a:r>
                        <a:rPr lang="en-US" dirty="0">
                          <a:latin typeface="Calibri" pitchFamily="34" charset="0"/>
                          <a:cs typeface="Calibri" pitchFamily="34" charset="0"/>
                        </a:rPr>
                        <a:t>Encryption</a:t>
                      </a:r>
                    </a:p>
                    <a:p>
                      <a:r>
                        <a:rPr lang="en-US" dirty="0">
                          <a:latin typeface="Calibri" pitchFamily="34" charset="0"/>
                          <a:cs typeface="Calibri" pitchFamily="34" charset="0"/>
                        </a:rPr>
                        <a:t>Standard</a:t>
                      </a:r>
                    </a:p>
                  </a:txBody>
                  <a:tcPr/>
                </a:tc>
                <a:tc>
                  <a:txBody>
                    <a:bodyPr/>
                    <a:lstStyle/>
                    <a:p>
                      <a:r>
                        <a:rPr lang="en-US" sz="1800" b="0" i="0" u="none" strike="noStrike" kern="1200" baseline="0" dirty="0">
                          <a:solidFill>
                            <a:schemeClr val="dk1"/>
                          </a:solidFill>
                          <a:latin typeface="Calibri" pitchFamily="34" charset="0"/>
                          <a:ea typeface="+mn-ea"/>
                          <a:cs typeface="Calibri" pitchFamily="34" charset="0"/>
                        </a:rPr>
                        <a:t>Fog systems are capable of</a:t>
                      </a:r>
                    </a:p>
                    <a:p>
                      <a:r>
                        <a:rPr lang="en-US" sz="1800" b="0" i="0" u="none" strike="noStrike" kern="1200" baseline="0" dirty="0">
                          <a:solidFill>
                            <a:schemeClr val="dk1"/>
                          </a:solidFill>
                          <a:latin typeface="Calibri" pitchFamily="34" charset="0"/>
                          <a:ea typeface="+mn-ea"/>
                          <a:cs typeface="Calibri" pitchFamily="34" charset="0"/>
                        </a:rPr>
                        <a:t>processing large amounts of data locally, operate </a:t>
                      </a:r>
                      <a:r>
                        <a:rPr lang="en-US" sz="1800" b="0" i="0" u="none" strike="noStrike" kern="1200" baseline="0" dirty="0" err="1">
                          <a:solidFill>
                            <a:schemeClr val="dk1"/>
                          </a:solidFill>
                          <a:latin typeface="Calibri" pitchFamily="34" charset="0"/>
                          <a:ea typeface="+mn-ea"/>
                          <a:cs typeface="Calibri" pitchFamily="34" charset="0"/>
                        </a:rPr>
                        <a:t>on-premise</a:t>
                      </a:r>
                      <a:r>
                        <a:rPr lang="en-US" sz="1800" b="0" i="0" u="none" strike="noStrike" kern="1200" baseline="0" dirty="0">
                          <a:solidFill>
                            <a:schemeClr val="dk1"/>
                          </a:solidFill>
                          <a:latin typeface="Calibri" pitchFamily="34" charset="0"/>
                          <a:ea typeface="+mn-ea"/>
                          <a:cs typeface="Calibri" pitchFamily="34" charset="0"/>
                        </a:rPr>
                        <a:t>, are fully portable</a:t>
                      </a:r>
                      <a:endParaRPr lang="en-US" dirty="0">
                        <a:latin typeface="Calibri" pitchFamily="34" charset="0"/>
                        <a:cs typeface="Calibri" pitchFamily="34" charset="0"/>
                      </a:endParaRPr>
                    </a:p>
                  </a:txBody>
                  <a:tcPr/>
                </a:tc>
                <a:tc>
                  <a:txBody>
                    <a:bodyPr/>
                    <a:lstStyle/>
                    <a:p>
                      <a:r>
                        <a:rPr lang="en-US" sz="1800" b="0" i="0" u="none" strike="noStrike" kern="1200" baseline="0" dirty="0">
                          <a:solidFill>
                            <a:schemeClr val="dk1"/>
                          </a:solidFill>
                          <a:latin typeface="Calibri" pitchFamily="34" charset="0"/>
                          <a:ea typeface="+mn-ea"/>
                          <a:cs typeface="Calibri" pitchFamily="34" charset="0"/>
                        </a:rPr>
                        <a:t>Consuming limited amount of resources.</a:t>
                      </a:r>
                      <a:endParaRPr lang="en-US" dirty="0">
                        <a:latin typeface="Calibri" pitchFamily="34" charset="0"/>
                        <a:cs typeface="Calibri" pitchFamily="34" charset="0"/>
                      </a:endParaRPr>
                    </a:p>
                  </a:txBody>
                  <a:tcPr/>
                </a:tc>
                <a:extLst>
                  <a:ext uri="{0D108BD9-81ED-4DB2-BD59-A6C34878D82A}">
                    <a16:rowId xmlns:a16="http://schemas.microsoft.com/office/drawing/2014/main" val="1179562148"/>
                  </a:ext>
                </a:extLst>
              </a:tr>
            </a:tbl>
          </a:graphicData>
        </a:graphic>
      </p:graphicFrame>
    </p:spTree>
    <p:extLst>
      <p:ext uri="{BB962C8B-B14F-4D97-AF65-F5344CB8AC3E}">
        <p14:creationId xmlns:p14="http://schemas.microsoft.com/office/powerpoint/2010/main" val="3909111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4" y="360218"/>
            <a:ext cx="10364451" cy="872838"/>
          </a:xfrm>
        </p:spPr>
        <p:txBody>
          <a:bodyPr/>
          <a:lstStyle/>
          <a:p>
            <a:r>
              <a:rPr lang="en-US" b="1" dirty="0">
                <a:latin typeface="Calibri" panose="020F0502020204030204" pitchFamily="34" charset="0"/>
                <a:cs typeface="Calibri" panose="020F0502020204030204" pitchFamily="34" charset="0"/>
              </a:rPr>
              <a:t>Literature survey</a:t>
            </a:r>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1076941089"/>
              </p:ext>
            </p:extLst>
          </p:nvPr>
        </p:nvGraphicFramePr>
        <p:xfrm>
          <a:off x="221673" y="1423844"/>
          <a:ext cx="11610111" cy="4971078"/>
        </p:xfrm>
        <a:graphic>
          <a:graphicData uri="http://schemas.openxmlformats.org/drawingml/2006/table">
            <a:tbl>
              <a:tblPr firstRow="1" bandRow="1">
                <a:tableStyleId>{5C22544A-7EE6-4342-B048-85BDC9FD1C3A}</a:tableStyleId>
              </a:tblPr>
              <a:tblGrid>
                <a:gridCol w="875607">
                  <a:extLst>
                    <a:ext uri="{9D8B030D-6E8A-4147-A177-3AD203B41FA5}">
                      <a16:colId xmlns:a16="http://schemas.microsoft.com/office/drawing/2014/main" val="4119530005"/>
                    </a:ext>
                  </a:extLst>
                </a:gridCol>
                <a:gridCol w="2560320">
                  <a:extLst>
                    <a:ext uri="{9D8B030D-6E8A-4147-A177-3AD203B41FA5}">
                      <a16:colId xmlns:a16="http://schemas.microsoft.com/office/drawing/2014/main" val="1543519015"/>
                    </a:ext>
                  </a:extLst>
                </a:gridCol>
                <a:gridCol w="1900238">
                  <a:extLst>
                    <a:ext uri="{9D8B030D-6E8A-4147-A177-3AD203B41FA5}">
                      <a16:colId xmlns:a16="http://schemas.microsoft.com/office/drawing/2014/main" val="3869305767"/>
                    </a:ext>
                  </a:extLst>
                </a:gridCol>
                <a:gridCol w="3489181">
                  <a:extLst>
                    <a:ext uri="{9D8B030D-6E8A-4147-A177-3AD203B41FA5}">
                      <a16:colId xmlns:a16="http://schemas.microsoft.com/office/drawing/2014/main" val="4140782951"/>
                    </a:ext>
                  </a:extLst>
                </a:gridCol>
                <a:gridCol w="2784765">
                  <a:extLst>
                    <a:ext uri="{9D8B030D-6E8A-4147-A177-3AD203B41FA5}">
                      <a16:colId xmlns:a16="http://schemas.microsoft.com/office/drawing/2014/main" val="433980290"/>
                    </a:ext>
                  </a:extLst>
                </a:gridCol>
              </a:tblGrid>
              <a:tr h="764838">
                <a:tc>
                  <a:txBody>
                    <a:bodyPr/>
                    <a:lstStyle/>
                    <a:p>
                      <a:pPr algn="ctr"/>
                      <a:r>
                        <a:rPr lang="en-US" dirty="0">
                          <a:latin typeface="Calibri" pitchFamily="34" charset="0"/>
                          <a:cs typeface="Calibri" pitchFamily="34" charset="0"/>
                        </a:rPr>
                        <a:t>Sr. No.</a:t>
                      </a:r>
                    </a:p>
                  </a:txBody>
                  <a:tcPr/>
                </a:tc>
                <a:tc>
                  <a:txBody>
                    <a:bodyPr/>
                    <a:lstStyle/>
                    <a:p>
                      <a:pPr algn="ctr"/>
                      <a:r>
                        <a:rPr lang="en-US" dirty="0">
                          <a:latin typeface="Calibri" pitchFamily="34" charset="0"/>
                          <a:cs typeface="Calibri" pitchFamily="34" charset="0"/>
                        </a:rPr>
                        <a:t>Authors</a:t>
                      </a:r>
                    </a:p>
                  </a:txBody>
                  <a:tcPr/>
                </a:tc>
                <a:tc>
                  <a:txBody>
                    <a:bodyPr/>
                    <a:lstStyle/>
                    <a:p>
                      <a:pPr algn="ctr"/>
                      <a:r>
                        <a:rPr lang="en-US" dirty="0">
                          <a:latin typeface="Calibri" pitchFamily="34" charset="0"/>
                          <a:cs typeface="Calibri" pitchFamily="34" charset="0"/>
                        </a:rPr>
                        <a:t>Algorithm </a:t>
                      </a:r>
                    </a:p>
                  </a:txBody>
                  <a:tcPr/>
                </a:tc>
                <a:tc>
                  <a:txBody>
                    <a:bodyPr/>
                    <a:lstStyle/>
                    <a:p>
                      <a:pPr algn="ctr"/>
                      <a:r>
                        <a:rPr lang="en-US" dirty="0">
                          <a:latin typeface="Calibri" pitchFamily="34" charset="0"/>
                          <a:cs typeface="Calibri" pitchFamily="34" charset="0"/>
                        </a:rPr>
                        <a:t>Advantage</a:t>
                      </a:r>
                    </a:p>
                  </a:txBody>
                  <a:tcPr/>
                </a:tc>
                <a:tc>
                  <a:txBody>
                    <a:bodyPr/>
                    <a:lstStyle/>
                    <a:p>
                      <a:pPr algn="ctr"/>
                      <a:r>
                        <a:rPr lang="en-US" dirty="0">
                          <a:latin typeface="Calibri" pitchFamily="34" charset="0"/>
                          <a:cs typeface="Calibri" pitchFamily="34" charset="0"/>
                        </a:rPr>
                        <a:t>Limitation </a:t>
                      </a:r>
                    </a:p>
                  </a:txBody>
                  <a:tcPr/>
                </a:tc>
                <a:extLst>
                  <a:ext uri="{0D108BD9-81ED-4DB2-BD59-A6C34878D82A}">
                    <a16:rowId xmlns:a16="http://schemas.microsoft.com/office/drawing/2014/main" val="2003061811"/>
                  </a:ext>
                </a:extLst>
              </a:tr>
              <a:tr h="764838">
                <a:tc>
                  <a:txBody>
                    <a:bodyPr/>
                    <a:lstStyle/>
                    <a:p>
                      <a:r>
                        <a:rPr lang="en-US" dirty="0">
                          <a:latin typeface="Calibri" pitchFamily="34" charset="0"/>
                          <a:cs typeface="Calibri" pitchFamily="34" charset="0"/>
                        </a:rPr>
                        <a:t>05</a:t>
                      </a:r>
                    </a:p>
                  </a:txBody>
                  <a:tcPr/>
                </a:tc>
                <a:tc>
                  <a:txBody>
                    <a:bodyPr/>
                    <a:lstStyle/>
                    <a:p>
                      <a:r>
                        <a:rPr lang="en-US" sz="1800" kern="1200" dirty="0">
                          <a:solidFill>
                            <a:schemeClr val="dk1"/>
                          </a:solidFill>
                          <a:effectLst/>
                          <a:latin typeface="Calibri" pitchFamily="34" charset="0"/>
                          <a:ea typeface="+mn-ea"/>
                          <a:cs typeface="Calibri" pitchFamily="34" charset="0"/>
                        </a:rPr>
                        <a:t>Crosby, M., </a:t>
                      </a:r>
                      <a:r>
                        <a:rPr lang="en-US" sz="1800" kern="1200" dirty="0" err="1">
                          <a:solidFill>
                            <a:schemeClr val="dk1"/>
                          </a:solidFill>
                          <a:effectLst/>
                          <a:latin typeface="Calibri" pitchFamily="34" charset="0"/>
                          <a:ea typeface="+mn-ea"/>
                          <a:cs typeface="Calibri" pitchFamily="34" charset="0"/>
                        </a:rPr>
                        <a:t>Pattanayak</a:t>
                      </a:r>
                      <a:r>
                        <a:rPr lang="en-US" sz="1800" kern="1200" dirty="0">
                          <a:solidFill>
                            <a:schemeClr val="dk1"/>
                          </a:solidFill>
                          <a:effectLst/>
                          <a:latin typeface="Calibri" pitchFamily="34" charset="0"/>
                          <a:ea typeface="+mn-ea"/>
                          <a:cs typeface="Calibri" pitchFamily="34" charset="0"/>
                        </a:rPr>
                        <a:t>, P., </a:t>
                      </a:r>
                      <a:r>
                        <a:rPr lang="en-US" sz="1800" kern="1200" dirty="0" err="1">
                          <a:solidFill>
                            <a:schemeClr val="dk1"/>
                          </a:solidFill>
                          <a:effectLst/>
                          <a:latin typeface="Calibri" pitchFamily="34" charset="0"/>
                          <a:ea typeface="+mn-ea"/>
                          <a:cs typeface="Calibri" pitchFamily="34" charset="0"/>
                        </a:rPr>
                        <a:t>Verma</a:t>
                      </a:r>
                      <a:r>
                        <a:rPr lang="en-US" sz="1800" kern="1200" dirty="0">
                          <a:solidFill>
                            <a:schemeClr val="dk1"/>
                          </a:solidFill>
                          <a:effectLst/>
                          <a:latin typeface="Calibri" pitchFamily="34" charset="0"/>
                          <a:ea typeface="+mn-ea"/>
                          <a:cs typeface="Calibri" pitchFamily="34" charset="0"/>
                        </a:rPr>
                        <a:t>, S., &amp; </a:t>
                      </a:r>
                      <a:r>
                        <a:rPr lang="en-US" sz="1800" kern="1200" dirty="0" err="1">
                          <a:solidFill>
                            <a:schemeClr val="dk1"/>
                          </a:solidFill>
                          <a:effectLst/>
                          <a:latin typeface="Calibri" pitchFamily="34" charset="0"/>
                          <a:ea typeface="+mn-ea"/>
                          <a:cs typeface="Calibri" pitchFamily="34" charset="0"/>
                        </a:rPr>
                        <a:t>Kalyanaraman</a:t>
                      </a:r>
                      <a:r>
                        <a:rPr lang="en-US" sz="1800" kern="1200" dirty="0">
                          <a:solidFill>
                            <a:schemeClr val="dk1"/>
                          </a:solidFill>
                          <a:effectLst/>
                          <a:latin typeface="Calibri" pitchFamily="34" charset="0"/>
                          <a:ea typeface="+mn-ea"/>
                          <a:cs typeface="Calibri" pitchFamily="34" charset="0"/>
                        </a:rPr>
                        <a:t>, V.</a:t>
                      </a:r>
                      <a:endParaRPr lang="en-US" dirty="0">
                        <a:latin typeface="Calibri" pitchFamily="34" charset="0"/>
                        <a:cs typeface="Calibri" pitchFamily="34" charset="0"/>
                      </a:endParaRPr>
                    </a:p>
                  </a:txBody>
                  <a:tcPr/>
                </a:tc>
                <a:tc>
                  <a:txBody>
                    <a:bodyPr/>
                    <a:lstStyle/>
                    <a:p>
                      <a:r>
                        <a:rPr lang="en-US" dirty="0">
                          <a:latin typeface="Calibri" pitchFamily="34" charset="0"/>
                          <a:cs typeface="Calibri" pitchFamily="34" charset="0"/>
                        </a:rPr>
                        <a:t>Proof of Work (</a:t>
                      </a:r>
                      <a:r>
                        <a:rPr lang="en-US" dirty="0" err="1">
                          <a:latin typeface="Calibri" pitchFamily="34" charset="0"/>
                          <a:cs typeface="Calibri" pitchFamily="34" charset="0"/>
                        </a:rPr>
                        <a:t>PoW</a:t>
                      </a:r>
                      <a:r>
                        <a:rPr lang="en-US" dirty="0">
                          <a:latin typeface="Calibri" pitchFamily="34" charset="0"/>
                          <a:cs typeface="Calibri" pitchFamily="34" charset="0"/>
                        </a:rPr>
                        <a:t>)</a:t>
                      </a:r>
                    </a:p>
                  </a:txBody>
                  <a:tcPr/>
                </a:tc>
                <a:tc>
                  <a:txBody>
                    <a:bodyPr/>
                    <a:lstStyle/>
                    <a:p>
                      <a:r>
                        <a:rPr lang="en-US" dirty="0">
                          <a:latin typeface="Calibri" pitchFamily="34" charset="0"/>
                          <a:cs typeface="Calibri" pitchFamily="34" charset="0"/>
                        </a:rPr>
                        <a:t>Ensures data immutability and decentralized trust.</a:t>
                      </a:r>
                    </a:p>
                  </a:txBody>
                  <a:tcPr/>
                </a:tc>
                <a:tc>
                  <a:txBody>
                    <a:bodyPr/>
                    <a:lstStyle/>
                    <a:p>
                      <a:r>
                        <a:rPr lang="en-US" dirty="0">
                          <a:latin typeface="Calibri" pitchFamily="34" charset="0"/>
                          <a:cs typeface="Calibri" pitchFamily="34" charset="0"/>
                        </a:rPr>
                        <a:t>High energy consumption and scalability challenges.</a:t>
                      </a:r>
                    </a:p>
                  </a:txBody>
                  <a:tcPr/>
                </a:tc>
                <a:extLst>
                  <a:ext uri="{0D108BD9-81ED-4DB2-BD59-A6C34878D82A}">
                    <a16:rowId xmlns:a16="http://schemas.microsoft.com/office/drawing/2014/main" val="3708669040"/>
                  </a:ext>
                </a:extLst>
              </a:tr>
              <a:tr h="764838">
                <a:tc>
                  <a:txBody>
                    <a:bodyPr/>
                    <a:lstStyle/>
                    <a:p>
                      <a:r>
                        <a:rPr lang="en-US" dirty="0">
                          <a:latin typeface="Calibri" pitchFamily="34" charset="0"/>
                          <a:cs typeface="Calibri" pitchFamily="34" charset="0"/>
                        </a:rPr>
                        <a:t>06</a:t>
                      </a:r>
                    </a:p>
                  </a:txBody>
                  <a:tcPr/>
                </a:tc>
                <a:tc>
                  <a:txBody>
                    <a:bodyPr/>
                    <a:lstStyle/>
                    <a:p>
                      <a:r>
                        <a:rPr lang="en-US" sz="1800" b="0" i="0" u="none" strike="noStrike" kern="1200" baseline="0" dirty="0" err="1">
                          <a:solidFill>
                            <a:schemeClr val="dk1"/>
                          </a:solidFill>
                          <a:latin typeface="Calibri" pitchFamily="34" charset="0"/>
                          <a:ea typeface="+mn-ea"/>
                          <a:cs typeface="Calibri" pitchFamily="34" charset="0"/>
                        </a:rPr>
                        <a:t>Christidis</a:t>
                      </a:r>
                      <a:r>
                        <a:rPr lang="en-US" sz="1800" b="0" i="0" u="none" strike="noStrike" kern="1200" baseline="0" dirty="0">
                          <a:solidFill>
                            <a:schemeClr val="dk1"/>
                          </a:solidFill>
                          <a:latin typeface="Calibri" pitchFamily="34" charset="0"/>
                          <a:ea typeface="+mn-ea"/>
                          <a:cs typeface="Calibri" pitchFamily="34" charset="0"/>
                        </a:rPr>
                        <a:t>, K., &amp; </a:t>
                      </a:r>
                      <a:r>
                        <a:rPr lang="en-US" sz="1800" b="0" i="0" u="none" strike="noStrike" kern="1200" baseline="0" dirty="0" err="1">
                          <a:solidFill>
                            <a:schemeClr val="dk1"/>
                          </a:solidFill>
                          <a:latin typeface="Calibri" pitchFamily="34" charset="0"/>
                          <a:ea typeface="+mn-ea"/>
                          <a:cs typeface="Calibri" pitchFamily="34" charset="0"/>
                        </a:rPr>
                        <a:t>Devetsikiotis</a:t>
                      </a:r>
                      <a:r>
                        <a:rPr lang="en-US" sz="1800" b="0" i="0" u="none" strike="noStrike" kern="1200" baseline="0" dirty="0">
                          <a:solidFill>
                            <a:schemeClr val="dk1"/>
                          </a:solidFill>
                          <a:latin typeface="Calibri" pitchFamily="34" charset="0"/>
                          <a:ea typeface="+mn-ea"/>
                          <a:cs typeface="Calibri" pitchFamily="34" charset="0"/>
                        </a:rPr>
                        <a:t>, M.</a:t>
                      </a:r>
                      <a:endParaRPr lang="en-US" dirty="0">
                        <a:latin typeface="Calibri" pitchFamily="34" charset="0"/>
                        <a:cs typeface="Calibri"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alibri" pitchFamily="34" charset="0"/>
                          <a:cs typeface="Calibri" pitchFamily="34" charset="0"/>
                        </a:rPr>
                        <a:t>Smart Contracts and Blockchain integration for </a:t>
                      </a:r>
                      <a:r>
                        <a:rPr lang="en-US" dirty="0" err="1">
                          <a:latin typeface="Calibri" pitchFamily="34" charset="0"/>
                          <a:cs typeface="Calibri" pitchFamily="34" charset="0"/>
                        </a:rPr>
                        <a:t>IoT</a:t>
                      </a:r>
                      <a:r>
                        <a:rPr lang="en-US" dirty="0">
                          <a:latin typeface="Calibri" pitchFamily="34" charset="0"/>
                          <a:cs typeface="Calibri" pitchFamily="34" charset="0"/>
                        </a:rPr>
                        <a:t>.</a:t>
                      </a:r>
                    </a:p>
                  </a:txBody>
                  <a:tcPr/>
                </a:tc>
                <a:tc>
                  <a:txBody>
                    <a:bodyPr/>
                    <a:lstStyle/>
                    <a:p>
                      <a:r>
                        <a:rPr lang="en-US" sz="1800" b="0" i="0" u="none" strike="noStrike" kern="1200" baseline="0" dirty="0">
                          <a:solidFill>
                            <a:schemeClr val="dk1"/>
                          </a:solidFill>
                          <a:latin typeface="Calibri" pitchFamily="34" charset="0"/>
                          <a:ea typeface="+mn-ea"/>
                          <a:cs typeface="Calibri" pitchFamily="34" charset="0"/>
                        </a:rPr>
                        <a:t>Enables autonomous, secure transactions among </a:t>
                      </a:r>
                      <a:r>
                        <a:rPr lang="en-US" sz="1800" b="0" i="0" u="none" strike="noStrike" kern="1200" baseline="0" dirty="0" err="1">
                          <a:solidFill>
                            <a:schemeClr val="dk1"/>
                          </a:solidFill>
                          <a:latin typeface="Calibri" pitchFamily="34" charset="0"/>
                          <a:ea typeface="+mn-ea"/>
                          <a:cs typeface="Calibri" pitchFamily="34" charset="0"/>
                        </a:rPr>
                        <a:t>IoT</a:t>
                      </a:r>
                      <a:r>
                        <a:rPr lang="en-US" sz="1800" b="0" i="0" u="none" strike="noStrike" kern="1200" baseline="0" dirty="0">
                          <a:solidFill>
                            <a:schemeClr val="dk1"/>
                          </a:solidFill>
                          <a:latin typeface="Calibri" pitchFamily="34" charset="0"/>
                          <a:ea typeface="+mn-ea"/>
                          <a:cs typeface="Calibri" pitchFamily="34" charset="0"/>
                        </a:rPr>
                        <a:t> devices.</a:t>
                      </a:r>
                      <a:endParaRPr lang="en-US" dirty="0">
                        <a:latin typeface="Calibri" pitchFamily="34" charset="0"/>
                        <a:cs typeface="Calibri" pitchFamily="34" charset="0"/>
                      </a:endParaRPr>
                    </a:p>
                  </a:txBody>
                  <a:tcPr/>
                </a:tc>
                <a:tc>
                  <a:txBody>
                    <a:bodyPr/>
                    <a:lstStyle/>
                    <a:p>
                      <a:r>
                        <a:rPr lang="en-US" sz="1800" b="0" i="0" u="none" strike="noStrike" kern="1200" baseline="0" dirty="0">
                          <a:solidFill>
                            <a:schemeClr val="dk1"/>
                          </a:solidFill>
                          <a:latin typeface="Calibri" pitchFamily="34" charset="0"/>
                          <a:ea typeface="+mn-ea"/>
                          <a:cs typeface="Calibri" pitchFamily="34" charset="0"/>
                        </a:rPr>
                        <a:t>Limited processing power and storage in </a:t>
                      </a:r>
                      <a:r>
                        <a:rPr lang="en-US" sz="1800" b="0" i="0" u="none" strike="noStrike" kern="1200" baseline="0" dirty="0" err="1">
                          <a:solidFill>
                            <a:schemeClr val="dk1"/>
                          </a:solidFill>
                          <a:latin typeface="Calibri" pitchFamily="34" charset="0"/>
                          <a:ea typeface="+mn-ea"/>
                          <a:cs typeface="Calibri" pitchFamily="34" charset="0"/>
                        </a:rPr>
                        <a:t>IoT</a:t>
                      </a:r>
                      <a:r>
                        <a:rPr lang="en-US" sz="1800" b="0" i="0" u="none" strike="noStrike" kern="1200" baseline="0" dirty="0">
                          <a:solidFill>
                            <a:schemeClr val="dk1"/>
                          </a:solidFill>
                          <a:latin typeface="Calibri" pitchFamily="34" charset="0"/>
                          <a:ea typeface="+mn-ea"/>
                          <a:cs typeface="Calibri" pitchFamily="34" charset="0"/>
                        </a:rPr>
                        <a:t> devices restrict adoption.</a:t>
                      </a:r>
                      <a:endParaRPr lang="en-US" dirty="0">
                        <a:latin typeface="Calibri" pitchFamily="34" charset="0"/>
                        <a:cs typeface="Calibri" pitchFamily="34" charset="0"/>
                      </a:endParaRPr>
                    </a:p>
                  </a:txBody>
                  <a:tcPr/>
                </a:tc>
                <a:extLst>
                  <a:ext uri="{0D108BD9-81ED-4DB2-BD59-A6C34878D82A}">
                    <a16:rowId xmlns:a16="http://schemas.microsoft.com/office/drawing/2014/main" val="2898070687"/>
                  </a:ext>
                </a:extLst>
              </a:tr>
              <a:tr h="764838">
                <a:tc>
                  <a:txBody>
                    <a:bodyPr/>
                    <a:lstStyle/>
                    <a:p>
                      <a:r>
                        <a:rPr lang="en-US" dirty="0">
                          <a:latin typeface="Calibri" pitchFamily="34" charset="0"/>
                          <a:cs typeface="Calibri" pitchFamily="34" charset="0"/>
                        </a:rPr>
                        <a:t>07</a:t>
                      </a:r>
                    </a:p>
                  </a:txBody>
                  <a:tcPr/>
                </a:tc>
                <a:tc>
                  <a:txBody>
                    <a:bodyPr/>
                    <a:lstStyle/>
                    <a:p>
                      <a:r>
                        <a:rPr lang="en-US" dirty="0" err="1">
                          <a:latin typeface="Calibri" pitchFamily="34" charset="0"/>
                          <a:cs typeface="Calibri" pitchFamily="34" charset="0"/>
                        </a:rPr>
                        <a:t>Kshetri</a:t>
                      </a:r>
                      <a:r>
                        <a:rPr lang="en-US" dirty="0">
                          <a:latin typeface="Calibri" pitchFamily="34" charset="0"/>
                          <a:cs typeface="Calibri" pitchFamily="34" charset="0"/>
                        </a:rPr>
                        <a:t>, N.</a:t>
                      </a:r>
                    </a:p>
                  </a:txBody>
                  <a:tcPr/>
                </a:tc>
                <a:tc>
                  <a:txBody>
                    <a:bodyPr/>
                    <a:lstStyle/>
                    <a:p>
                      <a:r>
                        <a:rPr lang="en-US" dirty="0">
                          <a:latin typeface="Calibri" pitchFamily="34" charset="0"/>
                          <a:cs typeface="Calibri" pitchFamily="34" charset="0"/>
                        </a:rPr>
                        <a:t>Traceability and audit mechanisms in supply chains.</a:t>
                      </a:r>
                    </a:p>
                  </a:txBody>
                  <a:tcPr/>
                </a:tc>
                <a:tc>
                  <a:txBody>
                    <a:bodyPr/>
                    <a:lstStyle/>
                    <a:p>
                      <a:r>
                        <a:rPr lang="en-US" dirty="0">
                          <a:latin typeface="Calibri" pitchFamily="34" charset="0"/>
                          <a:cs typeface="Calibri" pitchFamily="34" charset="0"/>
                        </a:rPr>
                        <a:t>Improves transparency and prevents counterfeit products.</a:t>
                      </a:r>
                    </a:p>
                  </a:txBody>
                  <a:tcPr/>
                </a:tc>
                <a:tc>
                  <a:txBody>
                    <a:bodyPr/>
                    <a:lstStyle/>
                    <a:p>
                      <a:r>
                        <a:rPr lang="en-US" dirty="0">
                          <a:latin typeface="Calibri" pitchFamily="34" charset="0"/>
                          <a:cs typeface="Calibri" pitchFamily="34" charset="0"/>
                        </a:rPr>
                        <a:t>Integration with legacy systems is complex and costly.</a:t>
                      </a:r>
                    </a:p>
                  </a:txBody>
                  <a:tcPr/>
                </a:tc>
                <a:extLst>
                  <a:ext uri="{0D108BD9-81ED-4DB2-BD59-A6C34878D82A}">
                    <a16:rowId xmlns:a16="http://schemas.microsoft.com/office/drawing/2014/main" val="2080239518"/>
                  </a:ext>
                </a:extLst>
              </a:tr>
              <a:tr h="764838">
                <a:tc>
                  <a:txBody>
                    <a:bodyPr/>
                    <a:lstStyle/>
                    <a:p>
                      <a:r>
                        <a:rPr lang="en-US" dirty="0">
                          <a:latin typeface="Calibri" pitchFamily="34" charset="0"/>
                          <a:cs typeface="Calibri" pitchFamily="34" charset="0"/>
                        </a:rPr>
                        <a:t>08</a:t>
                      </a:r>
                    </a:p>
                  </a:txBody>
                  <a:tcPr/>
                </a:tc>
                <a:tc>
                  <a:txBody>
                    <a:bodyPr/>
                    <a:lstStyle/>
                    <a:p>
                      <a:r>
                        <a:rPr lang="de-DE" sz="1800" b="0" i="0" u="none" strike="noStrike" kern="1200" baseline="0" dirty="0">
                          <a:solidFill>
                            <a:schemeClr val="dk1"/>
                          </a:solidFill>
                          <a:latin typeface="Calibri" pitchFamily="34" charset="0"/>
                          <a:ea typeface="+mn-ea"/>
                          <a:cs typeface="Calibri" pitchFamily="34" charset="0"/>
                        </a:rPr>
                        <a:t>Zheng, Z., Xie, S., Dai, H. N., Chen, X., &amp; Wang, H.</a:t>
                      </a:r>
                      <a:endParaRPr lang="en-US" dirty="0">
                        <a:latin typeface="Calibri" pitchFamily="34" charset="0"/>
                        <a:cs typeface="Calibri" pitchFamily="34" charset="0"/>
                      </a:endParaRPr>
                    </a:p>
                  </a:txBody>
                  <a:tcPr/>
                </a:tc>
                <a:tc>
                  <a:txBody>
                    <a:bodyPr/>
                    <a:lstStyle/>
                    <a:p>
                      <a:r>
                        <a:rPr lang="en-US" dirty="0">
                          <a:latin typeface="Calibri" pitchFamily="34" charset="0"/>
                          <a:cs typeface="Calibri" pitchFamily="34" charset="0"/>
                        </a:rPr>
                        <a:t>Multiple consensus algorithms like </a:t>
                      </a:r>
                      <a:r>
                        <a:rPr lang="en-US" dirty="0" err="1">
                          <a:latin typeface="Calibri" pitchFamily="34" charset="0"/>
                          <a:cs typeface="Calibri" pitchFamily="34" charset="0"/>
                        </a:rPr>
                        <a:t>PoW</a:t>
                      </a:r>
                      <a:r>
                        <a:rPr lang="en-US" dirty="0">
                          <a:latin typeface="Calibri" pitchFamily="34" charset="0"/>
                          <a:cs typeface="Calibri" pitchFamily="34" charset="0"/>
                        </a:rPr>
                        <a:t>, </a:t>
                      </a:r>
                      <a:r>
                        <a:rPr lang="en-US" dirty="0" err="1">
                          <a:latin typeface="Calibri" pitchFamily="34" charset="0"/>
                          <a:cs typeface="Calibri" pitchFamily="34" charset="0"/>
                        </a:rPr>
                        <a:t>PoS</a:t>
                      </a:r>
                      <a:r>
                        <a:rPr lang="en-US" dirty="0">
                          <a:latin typeface="Calibri" pitchFamily="34" charset="0"/>
                          <a:cs typeface="Calibri" pitchFamily="34" charset="0"/>
                        </a:rPr>
                        <a:t>, and PBFT.</a:t>
                      </a:r>
                    </a:p>
                  </a:txBody>
                  <a:tcPr/>
                </a:tc>
                <a:tc>
                  <a:txBody>
                    <a:bodyPr/>
                    <a:lstStyle/>
                    <a:p>
                      <a:r>
                        <a:rPr lang="en-US" sz="1800" b="0" i="0" u="none" strike="noStrike" kern="1200" baseline="0" dirty="0">
                          <a:solidFill>
                            <a:schemeClr val="dk1"/>
                          </a:solidFill>
                          <a:latin typeface="Calibri" pitchFamily="34" charset="0"/>
                          <a:ea typeface="+mn-ea"/>
                          <a:cs typeface="Calibri" pitchFamily="34" charset="0"/>
                        </a:rPr>
                        <a:t>Provides comprehensive insight into </a:t>
                      </a:r>
                      <a:r>
                        <a:rPr lang="en-US" sz="1800" b="0" i="0" u="none" strike="noStrike" kern="1200" baseline="0" dirty="0" err="1">
                          <a:solidFill>
                            <a:schemeClr val="dk1"/>
                          </a:solidFill>
                          <a:latin typeface="Calibri" pitchFamily="34" charset="0"/>
                          <a:ea typeface="+mn-ea"/>
                          <a:cs typeface="Calibri" pitchFamily="34" charset="0"/>
                        </a:rPr>
                        <a:t>blockchain's</a:t>
                      </a:r>
                      <a:r>
                        <a:rPr lang="en-US" sz="1800" b="0" i="0" u="none" strike="noStrike" kern="1200" baseline="0" dirty="0">
                          <a:solidFill>
                            <a:schemeClr val="dk1"/>
                          </a:solidFill>
                          <a:latin typeface="Calibri" pitchFamily="34" charset="0"/>
                          <a:ea typeface="+mn-ea"/>
                          <a:cs typeface="Calibri" pitchFamily="34" charset="0"/>
                        </a:rPr>
                        <a:t> scalability and security.</a:t>
                      </a:r>
                      <a:endParaRPr lang="en-US" dirty="0">
                        <a:latin typeface="Calibri" pitchFamily="34" charset="0"/>
                        <a:cs typeface="Calibri" pitchFamily="34" charset="0"/>
                      </a:endParaRPr>
                    </a:p>
                  </a:txBody>
                  <a:tcPr/>
                </a:tc>
                <a:tc>
                  <a:txBody>
                    <a:bodyPr/>
                    <a:lstStyle/>
                    <a:p>
                      <a:r>
                        <a:rPr lang="en-US" sz="1800" b="0" i="0" u="none" strike="noStrike" kern="1200" baseline="0" dirty="0">
                          <a:solidFill>
                            <a:schemeClr val="dk1"/>
                          </a:solidFill>
                          <a:latin typeface="Calibri" pitchFamily="34" charset="0"/>
                          <a:ea typeface="+mn-ea"/>
                          <a:cs typeface="Calibri" pitchFamily="34" charset="0"/>
                        </a:rPr>
                        <a:t>Lacks focus on real-time deployment and energy efficiency in diverse applications.</a:t>
                      </a:r>
                      <a:endParaRPr lang="en-US" dirty="0">
                        <a:latin typeface="Calibri" pitchFamily="34" charset="0"/>
                        <a:cs typeface="Calibri" pitchFamily="34" charset="0"/>
                      </a:endParaRPr>
                    </a:p>
                  </a:txBody>
                  <a:tcPr/>
                </a:tc>
                <a:extLst>
                  <a:ext uri="{0D108BD9-81ED-4DB2-BD59-A6C34878D82A}">
                    <a16:rowId xmlns:a16="http://schemas.microsoft.com/office/drawing/2014/main" val="1179562148"/>
                  </a:ext>
                </a:extLst>
              </a:tr>
            </a:tbl>
          </a:graphicData>
        </a:graphic>
      </p:graphicFrame>
    </p:spTree>
    <p:extLst>
      <p:ext uri="{BB962C8B-B14F-4D97-AF65-F5344CB8AC3E}">
        <p14:creationId xmlns:p14="http://schemas.microsoft.com/office/powerpoint/2010/main" val="3994747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libri" panose="020F0502020204030204" pitchFamily="34" charset="0"/>
                <a:cs typeface="Calibri" panose="020F0502020204030204" pitchFamily="34" charset="0"/>
              </a:rPr>
              <a:t>Motivation</a:t>
            </a:r>
          </a:p>
        </p:txBody>
      </p:sp>
      <p:sp>
        <p:nvSpPr>
          <p:cNvPr id="3" name="Content Placeholder 2"/>
          <p:cNvSpPr>
            <a:spLocks noGrp="1"/>
          </p:cNvSpPr>
          <p:nvPr>
            <p:ph sz="quarter" idx="13"/>
          </p:nvPr>
        </p:nvSpPr>
        <p:spPr>
          <a:xfrm>
            <a:off x="913774" y="2138516"/>
            <a:ext cx="10363826" cy="3652683"/>
          </a:xfrm>
        </p:spPr>
        <p:txBody>
          <a:bodyPr>
            <a:normAutofit fontScale="92500"/>
          </a:bodyPr>
          <a:lstStyle/>
          <a:p>
            <a:pPr algn="just"/>
            <a:r>
              <a:rPr lang="en-US" sz="2400" cap="none" dirty="0">
                <a:latin typeface="Cambria" pitchFamily="18" charset="0"/>
                <a:ea typeface="Cambria" pitchFamily="18" charset="0"/>
                <a:cs typeface="Calibri" panose="020F0502020204030204" pitchFamily="34" charset="0"/>
              </a:rPr>
              <a:t>The rising prevalence of counterfeit drugs is a critical issue that endangers lives and undermines trust in healthcare systems. Motivated by the need to protect patients and ensure the integrity of pharmaceutical products, this project seeks to leverage blockchain technology as a powerful tool for transparency and security. </a:t>
            </a:r>
          </a:p>
          <a:p>
            <a:pPr algn="just"/>
            <a:r>
              <a:rPr lang="en-US" sz="2400" cap="none" dirty="0">
                <a:latin typeface="Cambria" pitchFamily="18" charset="0"/>
                <a:ea typeface="Cambria" pitchFamily="18" charset="0"/>
                <a:cs typeface="Calibri" panose="020F0502020204030204" pitchFamily="34" charset="0"/>
              </a:rPr>
              <a:t>By implementing a supply chain system with smart contracts, we can create an unalterable record of drug transactions, making it nearly impossible for counterfeit products to infiltrate the market. </a:t>
            </a:r>
          </a:p>
          <a:p>
            <a:pPr algn="just"/>
            <a:r>
              <a:rPr lang="en-US" sz="2400" cap="none" dirty="0">
                <a:latin typeface="Cambria" pitchFamily="18" charset="0"/>
                <a:ea typeface="Cambria" pitchFamily="18" charset="0"/>
                <a:cs typeface="Calibri" panose="020F0502020204030204" pitchFamily="34" charset="0"/>
              </a:rPr>
              <a:t>This initiative aims to enhance patient safety, strengthen regulatory compliance, and ultimately contribute to a more trustworthy healthcare ecosystem.</a:t>
            </a:r>
          </a:p>
        </p:txBody>
      </p:sp>
    </p:spTree>
    <p:extLst>
      <p:ext uri="{BB962C8B-B14F-4D97-AF65-F5344CB8AC3E}">
        <p14:creationId xmlns:p14="http://schemas.microsoft.com/office/powerpoint/2010/main" val="2494177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libri" panose="020F0502020204030204" pitchFamily="34" charset="0"/>
                <a:cs typeface="Calibri" panose="020F0502020204030204" pitchFamily="34" charset="0"/>
              </a:rPr>
              <a:t>Problem Statement </a:t>
            </a:r>
          </a:p>
        </p:txBody>
      </p:sp>
      <p:sp>
        <p:nvSpPr>
          <p:cNvPr id="3" name="Content Placeholder 2"/>
          <p:cNvSpPr>
            <a:spLocks noGrp="1"/>
          </p:cNvSpPr>
          <p:nvPr>
            <p:ph sz="quarter" idx="13"/>
          </p:nvPr>
        </p:nvSpPr>
        <p:spPr>
          <a:xfrm>
            <a:off x="987515" y="2057376"/>
            <a:ext cx="10309749" cy="3812482"/>
          </a:xfrm>
        </p:spPr>
        <p:txBody>
          <a:bodyPr>
            <a:normAutofit/>
          </a:bodyPr>
          <a:lstStyle/>
          <a:p>
            <a:pPr algn="just"/>
            <a:endParaRPr lang="en-US" sz="2200" cap="none" dirty="0">
              <a:latin typeface="Cambria" pitchFamily="18" charset="0"/>
              <a:ea typeface="Cambria" pitchFamily="18" charset="0"/>
              <a:cs typeface="Calibri" panose="020F0502020204030204" pitchFamily="34" charset="0"/>
            </a:endParaRPr>
          </a:p>
          <a:p>
            <a:pPr algn="just"/>
            <a:r>
              <a:rPr lang="en-US" sz="2200" cap="none" dirty="0">
                <a:latin typeface="Cambria" pitchFamily="18" charset="0"/>
                <a:ea typeface="Cambria" pitchFamily="18" charset="0"/>
                <a:cs typeface="Calibri" panose="020F0502020204030204" pitchFamily="34" charset="0"/>
              </a:rPr>
              <a:t>Counterfeit drugs threaten patient safety and trust in healthcare. Our project uses blockchain and smart contracts to create a transparent, secure system for tracking pharmaceuticals, ensuring authenticity from manufacturer to consumer.</a:t>
            </a:r>
          </a:p>
        </p:txBody>
      </p:sp>
    </p:spTree>
    <p:extLst>
      <p:ext uri="{BB962C8B-B14F-4D97-AF65-F5344CB8AC3E}">
        <p14:creationId xmlns:p14="http://schemas.microsoft.com/office/powerpoint/2010/main" val="2017033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8"/>
            <a:ext cx="10364451" cy="774184"/>
          </a:xfrm>
        </p:spPr>
        <p:txBody>
          <a:bodyPr/>
          <a:lstStyle/>
          <a:p>
            <a:r>
              <a:rPr lang="en-US" b="1" dirty="0">
                <a:latin typeface="Calibri" panose="020F0502020204030204" pitchFamily="34" charset="0"/>
                <a:cs typeface="Calibri" panose="020F0502020204030204" pitchFamily="34" charset="0"/>
              </a:rPr>
              <a:t>OBJECTIVES OF WORK</a:t>
            </a:r>
          </a:p>
        </p:txBody>
      </p:sp>
      <p:sp>
        <p:nvSpPr>
          <p:cNvPr id="3" name="Content Placeholder 2"/>
          <p:cNvSpPr>
            <a:spLocks noGrp="1"/>
          </p:cNvSpPr>
          <p:nvPr>
            <p:ph sz="quarter" idx="13"/>
          </p:nvPr>
        </p:nvSpPr>
        <p:spPr>
          <a:xfrm>
            <a:off x="409325" y="1461452"/>
            <a:ext cx="11437034" cy="5057335"/>
          </a:xfrm>
        </p:spPr>
        <p:txBody>
          <a:bodyPr>
            <a:noAutofit/>
          </a:bodyPr>
          <a:lstStyle/>
          <a:p>
            <a:pPr lvl="0" algn="just"/>
            <a:r>
              <a:rPr lang="en-US" sz="2200" b="1" cap="none" dirty="0">
                <a:latin typeface="Cambria" pitchFamily="18" charset="0"/>
                <a:ea typeface="Cambria" pitchFamily="18" charset="0"/>
                <a:cs typeface="Calibri" panose="020F0502020204030204" pitchFamily="34" charset="0"/>
              </a:rPr>
              <a:t>To develop a custom Blockchain </a:t>
            </a:r>
            <a:r>
              <a:rPr lang="en-US" sz="2200" cap="none" dirty="0">
                <a:latin typeface="Cambria" pitchFamily="18" charset="0"/>
                <a:ea typeface="Cambria" pitchFamily="18" charset="0"/>
                <a:cs typeface="Calibri" panose="020F0502020204030204" pitchFamily="34" charset="0"/>
              </a:rPr>
              <a:t>solution tailored for the healthcare pharmaceutical supply chain to ensure real-time tracking and verification of drugs.</a:t>
            </a:r>
          </a:p>
          <a:p>
            <a:pPr lvl="0" algn="just"/>
            <a:r>
              <a:rPr lang="en-US" sz="2200" b="1" cap="none" dirty="0">
                <a:latin typeface="Cambria" pitchFamily="18" charset="0"/>
                <a:ea typeface="Cambria" pitchFamily="18" charset="0"/>
                <a:cs typeface="Calibri" panose="020F0502020204030204" pitchFamily="34" charset="0"/>
              </a:rPr>
              <a:t>To integrate Smart Contracts </a:t>
            </a:r>
            <a:r>
              <a:rPr lang="en-US" sz="2200" cap="none" dirty="0">
                <a:latin typeface="Cambria" pitchFamily="18" charset="0"/>
                <a:ea typeface="Cambria" pitchFamily="18" charset="0"/>
                <a:cs typeface="Calibri" panose="020F0502020204030204" pitchFamily="34" charset="0"/>
              </a:rPr>
              <a:t>into the custom Blockchain system to automate compliance with healthcare regulations and reduce manual processing errors.</a:t>
            </a:r>
          </a:p>
          <a:p>
            <a:pPr lvl="0" algn="just"/>
            <a:r>
              <a:rPr lang="en-US" sz="2200" b="1" cap="none" dirty="0">
                <a:latin typeface="Cambria" pitchFamily="18" charset="0"/>
                <a:ea typeface="Cambria" pitchFamily="18" charset="0"/>
                <a:cs typeface="Calibri" panose="020F0502020204030204" pitchFamily="34" charset="0"/>
              </a:rPr>
              <a:t>To enhance supply chain </a:t>
            </a:r>
            <a:r>
              <a:rPr lang="en-US" sz="2200" cap="none" dirty="0">
                <a:latin typeface="Cambria" pitchFamily="18" charset="0"/>
                <a:ea typeface="Cambria" pitchFamily="18" charset="0"/>
                <a:cs typeface="Calibri" panose="020F0502020204030204" pitchFamily="34" charset="0"/>
              </a:rPr>
              <a:t>transparency and accountability by using an immutable Blockchain ledger to record every transaction involving pharmaceutical products.</a:t>
            </a:r>
          </a:p>
          <a:p>
            <a:pPr lvl="0" algn="just"/>
            <a:r>
              <a:rPr lang="en-US" sz="2200" b="1" cap="none" dirty="0">
                <a:latin typeface="Cambria" pitchFamily="18" charset="0"/>
                <a:ea typeface="Cambria" pitchFamily="18" charset="0"/>
                <a:cs typeface="Calibri" panose="020F0502020204030204" pitchFamily="34" charset="0"/>
              </a:rPr>
              <a:t>To implement </a:t>
            </a:r>
            <a:r>
              <a:rPr lang="en-US" sz="2200" cap="none" dirty="0">
                <a:latin typeface="Cambria" pitchFamily="18" charset="0"/>
                <a:ea typeface="Cambria" pitchFamily="18" charset="0"/>
                <a:cs typeface="Calibri" panose="020F0502020204030204" pitchFamily="34" charset="0"/>
              </a:rPr>
              <a:t>advanced counterfeit detection mechanisms within the Blockchain framework to prevent the introduction of fake drugs into the healthcare system.</a:t>
            </a:r>
          </a:p>
          <a:p>
            <a:pPr lvl="0" algn="just"/>
            <a:r>
              <a:rPr lang="en-US" sz="2200" b="1" cap="none" dirty="0">
                <a:latin typeface="Cambria" pitchFamily="18" charset="0"/>
                <a:ea typeface="Cambria" pitchFamily="18" charset="0"/>
                <a:cs typeface="Calibri" panose="020F0502020204030204" pitchFamily="34" charset="0"/>
              </a:rPr>
              <a:t>To enable secure and timely access </a:t>
            </a:r>
            <a:r>
              <a:rPr lang="en-US" sz="2200" cap="none" dirty="0">
                <a:latin typeface="Cambria" pitchFamily="18" charset="0"/>
                <a:ea typeface="Cambria" pitchFamily="18" charset="0"/>
                <a:cs typeface="Calibri" panose="020F0502020204030204" pitchFamily="34" charset="0"/>
              </a:rPr>
              <a:t>to accurate drug information for all stakeholders, thereby improving trust and operational efficiency in the pharmaceutical supply chain. </a:t>
            </a:r>
          </a:p>
        </p:txBody>
      </p:sp>
    </p:spTree>
    <p:extLst>
      <p:ext uri="{BB962C8B-B14F-4D97-AF65-F5344CB8AC3E}">
        <p14:creationId xmlns:p14="http://schemas.microsoft.com/office/powerpoint/2010/main" val="231695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8"/>
            <a:ext cx="10364451" cy="988610"/>
          </a:xfrm>
        </p:spPr>
        <p:txBody>
          <a:bodyPr/>
          <a:lstStyle/>
          <a:p>
            <a:r>
              <a:rPr lang="en-US" b="1" dirty="0">
                <a:latin typeface="Calibri" pitchFamily="34" charset="0"/>
                <a:cs typeface="Calibri" pitchFamily="34" charset="0"/>
              </a:rPr>
              <a:t>Proposed System Architecture</a:t>
            </a:r>
          </a:p>
        </p:txBody>
      </p:sp>
      <p:pic>
        <p:nvPicPr>
          <p:cNvPr id="1026" name="Picture 2" descr="K:\DATA\TechM 2020\102 Rutuja Kasar\Health.png"/>
          <p:cNvPicPr>
            <a:picLocks noChangeAspect="1" noChangeArrowheads="1"/>
          </p:cNvPicPr>
          <p:nvPr/>
        </p:nvPicPr>
        <p:blipFill>
          <a:blip r:embed="rId2"/>
          <a:srcRect/>
          <a:stretch>
            <a:fillRect/>
          </a:stretch>
        </p:blipFill>
        <p:spPr bwMode="auto">
          <a:xfrm>
            <a:off x="2094270" y="1708003"/>
            <a:ext cx="8037871" cy="4678363"/>
          </a:xfrm>
          <a:prstGeom prst="rect">
            <a:avLst/>
          </a:prstGeom>
          <a:noFill/>
        </p:spPr>
      </p:pic>
    </p:spTree>
    <p:extLst>
      <p:ext uri="{BB962C8B-B14F-4D97-AF65-F5344CB8AC3E}">
        <p14:creationId xmlns:p14="http://schemas.microsoft.com/office/powerpoint/2010/main" val="1291310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7"/>
            <a:ext cx="10364451" cy="1265701"/>
          </a:xfrm>
        </p:spPr>
        <p:txBody>
          <a:bodyPr/>
          <a:lstStyle/>
          <a:p>
            <a:r>
              <a:rPr lang="en-US" b="1" dirty="0">
                <a:latin typeface="Calibri" panose="020F0502020204030204" pitchFamily="34" charset="0"/>
                <a:cs typeface="Calibri" panose="020F0502020204030204" pitchFamily="34" charset="0"/>
              </a:rPr>
              <a:t>Mathematical Model </a:t>
            </a:r>
          </a:p>
        </p:txBody>
      </p:sp>
      <p:sp>
        <p:nvSpPr>
          <p:cNvPr id="3" name="Content Placeholder 2"/>
          <p:cNvSpPr>
            <a:spLocks noGrp="1"/>
          </p:cNvSpPr>
          <p:nvPr>
            <p:ph sz="quarter" idx="13"/>
          </p:nvPr>
        </p:nvSpPr>
        <p:spPr>
          <a:xfrm>
            <a:off x="1394970" y="1725334"/>
            <a:ext cx="8928901" cy="4734460"/>
          </a:xfrm>
        </p:spPr>
        <p:txBody>
          <a:bodyPr>
            <a:noAutofit/>
          </a:bodyPr>
          <a:lstStyle/>
          <a:p>
            <a:pPr lvl="0" algn="just"/>
            <a:r>
              <a:rPr lang="en-US" sz="2200" cap="none" dirty="0">
                <a:latin typeface="Cambria" pitchFamily="18" charset="0"/>
                <a:ea typeface="Cambria" pitchFamily="18" charset="0"/>
                <a:cs typeface="Calibri" panose="020F0502020204030204" pitchFamily="34" charset="0"/>
              </a:rPr>
              <a:t>All (n) data nodes will return 1 when each have the same blockchain,</a:t>
            </a:r>
          </a:p>
          <a:p>
            <a:pPr lvl="0" algn="just"/>
            <a:r>
              <a:rPr lang="en-US" sz="2200" cap="none" dirty="0">
                <a:latin typeface="Cambria" pitchFamily="18" charset="0"/>
                <a:ea typeface="Cambria" pitchFamily="18" charset="0"/>
                <a:cs typeface="Calibri" panose="020F0502020204030204" pitchFamily="34" charset="0"/>
              </a:rPr>
              <a:t>Q = initial transactional data with genesis block</a:t>
            </a:r>
          </a:p>
          <a:p>
            <a:pPr lvl="0" algn="just"/>
            <a:r>
              <a:rPr lang="en-US" sz="2200" cap="none" dirty="0">
                <a:latin typeface="Cambria" pitchFamily="18" charset="0"/>
                <a:ea typeface="Cambria" pitchFamily="18" charset="0"/>
                <a:cs typeface="Calibri" panose="020F0502020204030204" pitchFamily="34" charset="0"/>
              </a:rPr>
              <a:t>∑ = {SHA-256, </a:t>
            </a:r>
            <a:r>
              <a:rPr lang="en-US" sz="2200" cap="none" dirty="0" err="1">
                <a:latin typeface="Cambria" pitchFamily="18" charset="0"/>
                <a:ea typeface="Cambria" pitchFamily="18" charset="0"/>
                <a:cs typeface="Calibri" panose="020F0502020204030204" pitchFamily="34" charset="0"/>
              </a:rPr>
              <a:t>Consensus_Val</a:t>
            </a:r>
            <a:r>
              <a:rPr lang="en-US" sz="2200" cap="none" dirty="0">
                <a:latin typeface="Cambria" pitchFamily="18" charset="0"/>
                <a:ea typeface="Cambria" pitchFamily="18" charset="0"/>
                <a:cs typeface="Calibri" panose="020F0502020204030204" pitchFamily="34" charset="0"/>
              </a:rPr>
              <a:t>, Mining}</a:t>
            </a:r>
          </a:p>
          <a:p>
            <a:pPr lvl="0" algn="just"/>
            <a:r>
              <a:rPr lang="el-GR" sz="2200" cap="none" dirty="0">
                <a:latin typeface="Cambria" pitchFamily="18" charset="0"/>
                <a:ea typeface="Cambria" pitchFamily="18" charset="0"/>
                <a:cs typeface="Calibri" panose="020F0502020204030204" pitchFamily="34" charset="0"/>
              </a:rPr>
              <a:t>Δ = </a:t>
            </a:r>
            <a:r>
              <a:rPr lang="en-US" sz="2200" cap="none" dirty="0">
                <a:latin typeface="Cambria" pitchFamily="18" charset="0"/>
                <a:ea typeface="Cambria" pitchFamily="18" charset="0"/>
                <a:cs typeface="Calibri" panose="020F0502020204030204" pitchFamily="34" charset="0"/>
              </a:rPr>
              <a:t>Validate all server(S1 ⊆ S2⊆ S3⊆ S4) all server validation process</a:t>
            </a:r>
          </a:p>
          <a:p>
            <a:pPr lvl="0" algn="just"/>
            <a:r>
              <a:rPr lang="en-US" sz="2200" cap="none" dirty="0">
                <a:latin typeface="Cambria" pitchFamily="18" charset="0"/>
                <a:ea typeface="Cambria" pitchFamily="18" charset="0"/>
                <a:cs typeface="Calibri" panose="020F0502020204030204" pitchFamily="34" charset="0"/>
              </a:rPr>
              <a:t>q0 = Initial transaction T[0]</a:t>
            </a:r>
          </a:p>
          <a:p>
            <a:pPr lvl="0" algn="just"/>
            <a:r>
              <a:rPr lang="en-US" sz="2200" cap="none" dirty="0">
                <a:latin typeface="Cambria" pitchFamily="18" charset="0"/>
                <a:ea typeface="Cambria" pitchFamily="18" charset="0"/>
                <a:cs typeface="Calibri" panose="020F0502020204030204" pitchFamily="34" charset="0"/>
              </a:rPr>
              <a:t>F = {Commit Trans, </a:t>
            </a:r>
            <a:r>
              <a:rPr lang="en-US" sz="2200" cap="none" dirty="0" err="1">
                <a:latin typeface="Cambria" pitchFamily="18" charset="0"/>
                <a:ea typeface="Cambria" pitchFamily="18" charset="0"/>
                <a:cs typeface="Calibri" panose="020F0502020204030204" pitchFamily="34" charset="0"/>
              </a:rPr>
              <a:t>GetHostoryRecord</a:t>
            </a:r>
            <a:r>
              <a:rPr lang="en-US" sz="2200" cap="none" dirty="0">
                <a:latin typeface="Cambria" pitchFamily="18" charset="0"/>
                <a:ea typeface="Cambria" pitchFamily="18" charset="0"/>
                <a:cs typeface="Calibri" panose="020F0502020204030204" pitchFamily="34" charset="0"/>
              </a:rPr>
              <a:t>} </a:t>
            </a:r>
          </a:p>
          <a:p>
            <a:pPr lvl="0" algn="just"/>
            <a:endParaRPr lang="en-US" sz="2200" cap="none" dirty="0">
              <a:latin typeface="Cambria" pitchFamily="18" charset="0"/>
              <a:ea typeface="Cambria" pitchFamily="18" charset="0"/>
              <a:cs typeface="Calibri" panose="020F0502020204030204" pitchFamily="34" charset="0"/>
            </a:endParaRPr>
          </a:p>
          <a:p>
            <a:pPr lvl="0" algn="just"/>
            <a:r>
              <a:rPr lang="en-US" sz="2200" b="1" cap="none" dirty="0">
                <a:latin typeface="Cambria" pitchFamily="18" charset="0"/>
                <a:ea typeface="Cambria" pitchFamily="18" charset="0"/>
                <a:cs typeface="Calibri" panose="020F0502020204030204" pitchFamily="34" charset="0"/>
              </a:rPr>
              <a:t>State</a:t>
            </a:r>
            <a:r>
              <a:rPr lang="en-US" sz="2200" cap="none" dirty="0">
                <a:latin typeface="Cambria" pitchFamily="18" charset="0"/>
                <a:ea typeface="Cambria" pitchFamily="18" charset="0"/>
                <a:cs typeface="Calibri" panose="020F0502020204030204" pitchFamily="34" charset="0"/>
              </a:rPr>
              <a:t> =&gt;1: if all chains are validating or same</a:t>
            </a:r>
          </a:p>
          <a:p>
            <a:pPr lvl="0" algn="just">
              <a:buNone/>
            </a:pPr>
            <a:r>
              <a:rPr lang="en-US" sz="2200" cap="none" dirty="0">
                <a:latin typeface="Cambria" pitchFamily="18" charset="0"/>
                <a:ea typeface="Cambria" pitchFamily="18" charset="0"/>
                <a:cs typeface="Calibri" panose="020F0502020204030204" pitchFamily="34" charset="0"/>
              </a:rPr>
              <a:t>                0: if any t(n) server consist the invalid chain</a:t>
            </a:r>
          </a:p>
          <a:p>
            <a:pPr lvl="0" algn="just"/>
            <a:endParaRPr lang="en-US" sz="2200" cap="none" dirty="0">
              <a:latin typeface="Cambria" pitchFamily="18" charset="0"/>
              <a:ea typeface="Cambria" pitchFamily="18" charset="0"/>
              <a:cs typeface="Calibri" panose="020F0502020204030204" pitchFamily="34" charset="0"/>
            </a:endParaRPr>
          </a:p>
        </p:txBody>
      </p:sp>
    </p:spTree>
    <p:extLst>
      <p:ext uri="{BB962C8B-B14F-4D97-AF65-F5344CB8AC3E}">
        <p14:creationId xmlns:p14="http://schemas.microsoft.com/office/powerpoint/2010/main" val="890641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7"/>
            <a:ext cx="10364451" cy="1265701"/>
          </a:xfrm>
        </p:spPr>
        <p:txBody>
          <a:bodyPr/>
          <a:lstStyle/>
          <a:p>
            <a:r>
              <a:rPr lang="en-US" b="1" dirty="0">
                <a:latin typeface="Calibri" panose="020F0502020204030204" pitchFamily="34" charset="0"/>
                <a:cs typeface="Calibri" panose="020F0502020204030204" pitchFamily="34" charset="0"/>
              </a:rPr>
              <a:t>Mathematical Model (Cont..)</a:t>
            </a:r>
          </a:p>
        </p:txBody>
      </p:sp>
      <p:sp>
        <p:nvSpPr>
          <p:cNvPr id="3" name="Content Placeholder 2"/>
          <p:cNvSpPr>
            <a:spLocks noGrp="1"/>
          </p:cNvSpPr>
          <p:nvPr>
            <p:ph sz="quarter" idx="13"/>
          </p:nvPr>
        </p:nvSpPr>
        <p:spPr>
          <a:xfrm>
            <a:off x="2064774" y="2138289"/>
            <a:ext cx="8023123" cy="3112137"/>
          </a:xfrm>
        </p:spPr>
        <p:txBody>
          <a:bodyPr>
            <a:normAutofit/>
          </a:bodyPr>
          <a:lstStyle/>
          <a:p>
            <a:pPr lvl="0" algn="just"/>
            <a:r>
              <a:rPr lang="en-US" sz="2200" b="1" cap="none" dirty="0">
                <a:latin typeface="Cambria" pitchFamily="18" charset="0"/>
                <a:ea typeface="Cambria" pitchFamily="18" charset="0"/>
                <a:cs typeface="Calibri" panose="020F0502020204030204" pitchFamily="34" charset="0"/>
              </a:rPr>
              <a:t>Set dependency</a:t>
            </a:r>
          </a:p>
          <a:p>
            <a:pPr lvl="0" algn="just"/>
            <a:endParaRPr lang="en-US" sz="2200" cap="none" dirty="0">
              <a:latin typeface="Cambria" pitchFamily="18" charset="0"/>
              <a:ea typeface="Cambria" pitchFamily="18" charset="0"/>
              <a:cs typeface="Calibri" panose="020F0502020204030204" pitchFamily="34" charset="0"/>
            </a:endParaRPr>
          </a:p>
          <a:p>
            <a:pPr lvl="0" algn="just"/>
            <a:r>
              <a:rPr lang="en-US" sz="2200" cap="none" dirty="0">
                <a:latin typeface="Cambria" pitchFamily="18" charset="0"/>
                <a:ea typeface="Cambria" pitchFamily="18" charset="0"/>
                <a:cs typeface="Calibri" panose="020F0502020204030204" pitchFamily="34" charset="0"/>
              </a:rPr>
              <a:t>Sys= {</a:t>
            </a:r>
            <a:r>
              <a:rPr lang="en-US" sz="2200" cap="none" dirty="0" err="1">
                <a:latin typeface="Cambria" pitchFamily="18" charset="0"/>
                <a:ea typeface="Cambria" pitchFamily="18" charset="0"/>
                <a:cs typeface="Calibri" panose="020F0502020204030204" pitchFamily="34" charset="0"/>
              </a:rPr>
              <a:t>Phash</a:t>
            </a:r>
            <a:r>
              <a:rPr lang="en-US" sz="2200" cap="none" dirty="0">
                <a:latin typeface="Cambria" pitchFamily="18" charset="0"/>
                <a:ea typeface="Cambria" pitchFamily="18" charset="0"/>
                <a:cs typeface="Calibri" panose="020F0502020204030204" pitchFamily="34" charset="0"/>
              </a:rPr>
              <a:t>, </a:t>
            </a:r>
            <a:r>
              <a:rPr lang="en-US" sz="2200" cap="none" dirty="0" err="1">
                <a:latin typeface="Cambria" pitchFamily="18" charset="0"/>
                <a:ea typeface="Cambria" pitchFamily="18" charset="0"/>
                <a:cs typeface="Calibri" panose="020F0502020204030204" pitchFamily="34" charset="0"/>
              </a:rPr>
              <a:t>Tdata</a:t>
            </a:r>
            <a:r>
              <a:rPr lang="en-US" sz="2200" cap="none" dirty="0">
                <a:latin typeface="Cambria" pitchFamily="18" charset="0"/>
                <a:ea typeface="Cambria" pitchFamily="18" charset="0"/>
                <a:cs typeface="Calibri" panose="020F0502020204030204" pitchFamily="34" charset="0"/>
              </a:rPr>
              <a:t>, </a:t>
            </a:r>
            <a:r>
              <a:rPr lang="en-US" sz="2200" cap="none" dirty="0" err="1">
                <a:latin typeface="Cambria" pitchFamily="18" charset="0"/>
                <a:ea typeface="Cambria" pitchFamily="18" charset="0"/>
                <a:cs typeface="Calibri" panose="020F0502020204030204" pitchFamily="34" charset="0"/>
              </a:rPr>
              <a:t>Chash</a:t>
            </a:r>
            <a:r>
              <a:rPr lang="en-US" sz="2200" cap="none" dirty="0">
                <a:latin typeface="Cambria" pitchFamily="18" charset="0"/>
                <a:ea typeface="Cambria" pitchFamily="18" charset="0"/>
                <a:cs typeface="Calibri" panose="020F0502020204030204" pitchFamily="34" charset="0"/>
              </a:rPr>
              <a:t>}</a:t>
            </a:r>
          </a:p>
          <a:p>
            <a:pPr lvl="0" algn="just"/>
            <a:r>
              <a:rPr lang="en-US" sz="2200" cap="none" dirty="0">
                <a:latin typeface="Cambria" pitchFamily="18" charset="0"/>
                <a:ea typeface="Cambria" pitchFamily="18" charset="0"/>
                <a:cs typeface="Calibri" panose="020F0502020204030204" pitchFamily="34" charset="0"/>
              </a:rPr>
              <a:t>Get blockchain from each node and validate with each other.</a:t>
            </a:r>
          </a:p>
        </p:txBody>
      </p:sp>
    </p:spTree>
    <p:extLst>
      <p:ext uri="{BB962C8B-B14F-4D97-AF65-F5344CB8AC3E}">
        <p14:creationId xmlns:p14="http://schemas.microsoft.com/office/powerpoint/2010/main" val="890641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F5768-4F98-BFC5-84BA-FB56A46A03D7}"/>
              </a:ext>
            </a:extLst>
          </p:cNvPr>
          <p:cNvSpPr>
            <a:spLocks noGrp="1"/>
          </p:cNvSpPr>
          <p:nvPr>
            <p:ph type="title"/>
          </p:nvPr>
        </p:nvSpPr>
        <p:spPr>
          <a:xfrm>
            <a:off x="913775" y="618517"/>
            <a:ext cx="10364451" cy="761875"/>
          </a:xfrm>
        </p:spPr>
        <p:txBody>
          <a:bodyPr/>
          <a:lstStyle/>
          <a:p>
            <a:r>
              <a:rPr lang="en-US" b="1" dirty="0">
                <a:latin typeface="Calibri" panose="020F0502020204030204" pitchFamily="34" charset="0"/>
                <a:cs typeface="Calibri" panose="020F0502020204030204" pitchFamily="34" charset="0"/>
              </a:rPr>
              <a:t>Modules of the project</a:t>
            </a:r>
            <a:endParaRPr lang="en-IN" dirty="0"/>
          </a:p>
        </p:txBody>
      </p:sp>
      <p:sp>
        <p:nvSpPr>
          <p:cNvPr id="3" name="Content Placeholder 2">
            <a:extLst>
              <a:ext uri="{FF2B5EF4-FFF2-40B4-BE49-F238E27FC236}">
                <a16:creationId xmlns:a16="http://schemas.microsoft.com/office/drawing/2014/main" id="{F0F811CF-72C3-DF08-8465-61714296E7E0}"/>
              </a:ext>
            </a:extLst>
          </p:cNvPr>
          <p:cNvSpPr>
            <a:spLocks noGrp="1"/>
          </p:cNvSpPr>
          <p:nvPr>
            <p:ph sz="quarter" idx="13"/>
          </p:nvPr>
        </p:nvSpPr>
        <p:spPr>
          <a:xfrm>
            <a:off x="913774" y="1380392"/>
            <a:ext cx="10363826" cy="4947672"/>
          </a:xfrm>
        </p:spPr>
        <p:txBody>
          <a:bodyPr>
            <a:normAutofit/>
          </a:bodyPr>
          <a:lstStyle/>
          <a:p>
            <a:r>
              <a:rPr lang="en-US" sz="2200" b="1" cap="none" dirty="0">
                <a:latin typeface="Cambria" pitchFamily="18" charset="0"/>
                <a:ea typeface="Cambria" pitchFamily="18" charset="0"/>
              </a:rPr>
              <a:t>User Authentication Module</a:t>
            </a:r>
          </a:p>
          <a:p>
            <a:r>
              <a:rPr lang="en-US" sz="2200" b="1" cap="none" dirty="0">
                <a:latin typeface="Cambria" pitchFamily="18" charset="0"/>
                <a:ea typeface="Cambria" pitchFamily="18" charset="0"/>
              </a:rPr>
              <a:t>Smart Contracts Module</a:t>
            </a:r>
          </a:p>
          <a:p>
            <a:r>
              <a:rPr lang="en-US" sz="2200" b="1" cap="none" dirty="0">
                <a:latin typeface="Cambria" pitchFamily="18" charset="0"/>
                <a:ea typeface="Cambria" pitchFamily="18" charset="0"/>
              </a:rPr>
              <a:t>Patient Module</a:t>
            </a:r>
          </a:p>
          <a:p>
            <a:r>
              <a:rPr lang="en-US" sz="2200" b="1" cap="none" dirty="0">
                <a:latin typeface="Cambria" pitchFamily="18" charset="0"/>
                <a:ea typeface="Cambria" pitchFamily="18" charset="0"/>
              </a:rPr>
              <a:t>Hospital Module</a:t>
            </a:r>
          </a:p>
          <a:p>
            <a:r>
              <a:rPr lang="en-IN" sz="2200" b="1" cap="none" dirty="0">
                <a:latin typeface="Cambria" panose="02040503050406030204" pitchFamily="18" charset="0"/>
                <a:ea typeface="Cambria" panose="02040503050406030204" pitchFamily="18" charset="0"/>
              </a:rPr>
              <a:t>Admin Module</a:t>
            </a:r>
          </a:p>
          <a:p>
            <a:r>
              <a:rPr lang="en-IN" sz="2200" b="1" cap="none" dirty="0">
                <a:latin typeface="Cambria" panose="02040503050406030204" pitchFamily="18" charset="0"/>
                <a:ea typeface="Cambria" panose="02040503050406030204" pitchFamily="18" charset="0"/>
              </a:rPr>
              <a:t>Supplier Module</a:t>
            </a:r>
          </a:p>
          <a:p>
            <a:r>
              <a:rPr lang="en-IN" sz="2200" b="1" cap="none" dirty="0">
                <a:latin typeface="Cambria" panose="02040503050406030204" pitchFamily="18" charset="0"/>
                <a:ea typeface="Cambria" panose="02040503050406030204" pitchFamily="18" charset="0"/>
              </a:rPr>
              <a:t>Pharmacy Module</a:t>
            </a:r>
          </a:p>
          <a:p>
            <a:r>
              <a:rPr lang="en-IN" sz="2200" b="1" cap="none" dirty="0">
                <a:latin typeface="Cambria" panose="02040503050406030204" pitchFamily="18" charset="0"/>
                <a:ea typeface="Cambria" panose="02040503050406030204" pitchFamily="18" charset="0"/>
              </a:rPr>
              <a:t>Dealer Module</a:t>
            </a:r>
          </a:p>
          <a:p>
            <a:r>
              <a:rPr lang="en-IN" sz="2200" b="1" cap="none" dirty="0">
                <a:latin typeface="Cambria" panose="02040503050406030204" pitchFamily="18" charset="0"/>
                <a:ea typeface="Cambria" panose="02040503050406030204" pitchFamily="18" charset="0"/>
              </a:rPr>
              <a:t>Wholesaler Module</a:t>
            </a:r>
            <a:endParaRPr lang="en-US" sz="2200" b="1" cap="none" dirty="0">
              <a:latin typeface="Cambria" pitchFamily="18" charset="0"/>
              <a:ea typeface="Cambria" pitchFamily="18" charset="0"/>
            </a:endParaRPr>
          </a:p>
        </p:txBody>
      </p:sp>
    </p:spTree>
    <p:extLst>
      <p:ext uri="{BB962C8B-B14F-4D97-AF65-F5344CB8AC3E}">
        <p14:creationId xmlns:p14="http://schemas.microsoft.com/office/powerpoint/2010/main" val="1064399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899651" y="1257300"/>
            <a:ext cx="10648335" cy="4875052"/>
          </a:xfrm>
        </p:spPr>
        <p:txBody>
          <a:bodyPr>
            <a:normAutofit/>
          </a:bodyPr>
          <a:lstStyle/>
          <a:p>
            <a:pPr marL="0" indent="0">
              <a:buNone/>
            </a:pPr>
            <a:r>
              <a:rPr lang="en-US" sz="2600" b="1" cap="none" dirty="0">
                <a:latin typeface="Cambria" pitchFamily="18" charset="0"/>
                <a:ea typeface="Cambria" pitchFamily="18" charset="0"/>
              </a:rPr>
              <a:t>User Authentication Module </a:t>
            </a:r>
            <a:r>
              <a:rPr lang="en-US" sz="2400" b="1" cap="none" dirty="0">
                <a:latin typeface="Cambria" pitchFamily="18" charset="0"/>
                <a:ea typeface="Cambria" pitchFamily="18" charset="0"/>
              </a:rPr>
              <a:t>:</a:t>
            </a:r>
            <a:br>
              <a:rPr lang="en-US" sz="2400" cap="none" dirty="0">
                <a:latin typeface="Cambria" pitchFamily="18" charset="0"/>
                <a:ea typeface="Cambria" pitchFamily="18" charset="0"/>
              </a:rPr>
            </a:br>
            <a:r>
              <a:rPr lang="en-US" cap="none" dirty="0">
                <a:latin typeface="Cambria" pitchFamily="18" charset="0"/>
                <a:ea typeface="Cambria" pitchFamily="18" charset="0"/>
              </a:rPr>
              <a:t>Enables secure registration and authentication for all stakeholders, including, Patients, Hospitals, Distributors, and Admin regulators.</a:t>
            </a:r>
          </a:p>
          <a:p>
            <a:r>
              <a:rPr lang="en-US" b="1" cap="none" dirty="0">
                <a:latin typeface="Cambria" pitchFamily="18" charset="0"/>
                <a:ea typeface="Cambria" pitchFamily="18" charset="0"/>
              </a:rPr>
              <a:t>Input: </a:t>
            </a:r>
            <a:r>
              <a:rPr lang="en-US" cap="none" dirty="0">
                <a:latin typeface="Cambria" pitchFamily="18" charset="0"/>
                <a:ea typeface="Cambria" pitchFamily="18" charset="0"/>
              </a:rPr>
              <a:t>User credentials (username, password, etc.)</a:t>
            </a:r>
          </a:p>
          <a:p>
            <a:r>
              <a:rPr lang="en-US" b="1" cap="none" dirty="0">
                <a:latin typeface="Cambria" pitchFamily="18" charset="0"/>
                <a:ea typeface="Cambria" pitchFamily="18" charset="0"/>
              </a:rPr>
              <a:t>Processing:  </a:t>
            </a:r>
            <a:r>
              <a:rPr lang="en-IN" b="1" cap="none" dirty="0">
                <a:effectLst/>
                <a:latin typeface="Cambria" panose="02040503050406030204" pitchFamily="18" charset="0"/>
                <a:ea typeface="Cambria" panose="02040503050406030204" pitchFamily="18" charset="0"/>
                <a:cs typeface="Times New Roman" panose="02020603050405020304" pitchFamily="18" charset="0"/>
              </a:rPr>
              <a:t>Hashing Algorithm (SHA-256)</a:t>
            </a:r>
            <a:r>
              <a:rPr lang="en-IN" cap="none" dirty="0">
                <a:effectLst/>
                <a:latin typeface="Cambria" panose="02040503050406030204" pitchFamily="18" charset="0"/>
                <a:ea typeface="Cambria" panose="02040503050406030204" pitchFamily="18" charset="0"/>
                <a:cs typeface="Times New Roman" panose="02020603050405020304" pitchFamily="18" charset="0"/>
              </a:rPr>
              <a:t> To Hash and Securely Store Passwords, Compare With Stored Hashes For Login Verification.</a:t>
            </a:r>
          </a:p>
          <a:p>
            <a:r>
              <a:rPr lang="en-US" b="1" cap="none" dirty="0">
                <a:latin typeface="Cambria" pitchFamily="18" charset="0"/>
                <a:ea typeface="Cambria" pitchFamily="18" charset="0"/>
              </a:rPr>
              <a:t>Output: </a:t>
            </a:r>
            <a:r>
              <a:rPr lang="en-US" cap="none" dirty="0">
                <a:latin typeface="Cambria" pitchFamily="18" charset="0"/>
                <a:ea typeface="Cambria" pitchFamily="18" charset="0"/>
              </a:rPr>
              <a:t>Authentication success (user granted access) or failure (access denied).</a:t>
            </a:r>
          </a:p>
        </p:txBody>
      </p:sp>
    </p:spTree>
    <p:extLst>
      <p:ext uri="{BB962C8B-B14F-4D97-AF65-F5344CB8AC3E}">
        <p14:creationId xmlns:p14="http://schemas.microsoft.com/office/powerpoint/2010/main" val="469244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445841-06DE-7005-FAA0-9968970C93B8}"/>
              </a:ext>
            </a:extLst>
          </p:cNvPr>
          <p:cNvSpPr>
            <a:spLocks noGrp="1"/>
          </p:cNvSpPr>
          <p:nvPr>
            <p:ph sz="quarter" idx="13"/>
          </p:nvPr>
        </p:nvSpPr>
        <p:spPr>
          <a:xfrm>
            <a:off x="913774" y="1216404"/>
            <a:ext cx="10363826" cy="4932726"/>
          </a:xfrm>
        </p:spPr>
        <p:txBody>
          <a:bodyPr/>
          <a:lstStyle/>
          <a:p>
            <a:pPr marL="0" indent="0">
              <a:buNone/>
            </a:pPr>
            <a:r>
              <a:rPr lang="en-US" sz="2600" b="1" cap="none" dirty="0">
                <a:latin typeface="Cambria" pitchFamily="18" charset="0"/>
                <a:ea typeface="Cambria" pitchFamily="18" charset="0"/>
              </a:rPr>
              <a:t>Smart Contracts Module :</a:t>
            </a:r>
            <a:br>
              <a:rPr lang="en-US" sz="2600" cap="none" dirty="0">
                <a:latin typeface="Cambria" pitchFamily="18" charset="0"/>
                <a:ea typeface="Cambria" pitchFamily="18" charset="0"/>
              </a:rPr>
            </a:br>
            <a:r>
              <a:rPr lang="en-US" cap="none" dirty="0">
                <a:latin typeface="Cambria" pitchFamily="18" charset="0"/>
                <a:ea typeface="Cambria" pitchFamily="18" charset="0"/>
              </a:rPr>
              <a:t>Implements automated agreements that enforce rules and conditions for transactions, ensuring that only verified products move through the supply chain.</a:t>
            </a:r>
          </a:p>
          <a:p>
            <a:pPr>
              <a:lnSpc>
                <a:spcPct val="107000"/>
              </a:lnSpc>
              <a:spcAft>
                <a:spcPts val="800"/>
              </a:spcAft>
            </a:pPr>
            <a:r>
              <a:rPr lang="en-IN" b="1" kern="100" cap="none" dirty="0">
                <a:effectLst/>
                <a:latin typeface="Cambria" panose="02040503050406030204" pitchFamily="18" charset="0"/>
                <a:ea typeface="Cambria" panose="02040503050406030204" pitchFamily="18" charset="0"/>
                <a:cs typeface="Times New Roman" panose="02020603050405020304" pitchFamily="18" charset="0"/>
              </a:rPr>
              <a:t>Input:</a:t>
            </a:r>
            <a:r>
              <a:rPr lang="en-IN" kern="100" cap="none" dirty="0">
                <a:effectLst/>
                <a:latin typeface="Cambria" panose="02040503050406030204" pitchFamily="18" charset="0"/>
                <a:ea typeface="Cambria" panose="02040503050406030204" pitchFamily="18" charset="0"/>
                <a:cs typeface="Times New Roman" panose="02020603050405020304" pitchFamily="18" charset="0"/>
              </a:rPr>
              <a:t> Transaction Details (Drug Verification, Shipment Conditions). </a:t>
            </a:r>
          </a:p>
          <a:p>
            <a:pPr>
              <a:lnSpc>
                <a:spcPct val="107000"/>
              </a:lnSpc>
              <a:spcAft>
                <a:spcPts val="800"/>
              </a:spcAft>
            </a:pPr>
            <a:r>
              <a:rPr lang="en-IN" b="1" kern="100" cap="none" dirty="0">
                <a:effectLst/>
                <a:latin typeface="Cambria" panose="02040503050406030204" pitchFamily="18" charset="0"/>
                <a:ea typeface="Cambria" panose="02040503050406030204" pitchFamily="18" charset="0"/>
                <a:cs typeface="Times New Roman" panose="02020603050405020304" pitchFamily="18" charset="0"/>
              </a:rPr>
              <a:t>Processing:</a:t>
            </a:r>
            <a:r>
              <a:rPr lang="en-IN" kern="100" cap="none" dirty="0">
                <a:effectLst/>
                <a:latin typeface="Cambria" panose="02040503050406030204" pitchFamily="18" charset="0"/>
                <a:ea typeface="Cambria" panose="02040503050406030204" pitchFamily="18" charset="0"/>
                <a:cs typeface="Times New Roman" panose="02020603050405020304" pitchFamily="18" charset="0"/>
              </a:rPr>
              <a:t> </a:t>
            </a:r>
            <a:r>
              <a:rPr lang="en-IN" b="1" kern="100" cap="none" dirty="0">
                <a:effectLst/>
                <a:latin typeface="Cambria" panose="02040503050406030204" pitchFamily="18" charset="0"/>
                <a:ea typeface="Cambria" panose="02040503050406030204" pitchFamily="18" charset="0"/>
                <a:cs typeface="Times New Roman" panose="02020603050405020304" pitchFamily="18" charset="0"/>
              </a:rPr>
              <a:t>Smart Contract Execution Algorithm</a:t>
            </a:r>
            <a:r>
              <a:rPr lang="en-IN" kern="100" cap="none" dirty="0">
                <a:effectLst/>
                <a:latin typeface="Cambria" panose="02040503050406030204" pitchFamily="18" charset="0"/>
                <a:ea typeface="Cambria" panose="02040503050406030204" pitchFamily="18" charset="0"/>
                <a:cs typeface="Times New Roman" panose="02020603050405020304" pitchFamily="18" charset="0"/>
              </a:rPr>
              <a:t> That Automatically Enforces Conditions Written In Smart Contracts.</a:t>
            </a:r>
          </a:p>
          <a:p>
            <a:r>
              <a:rPr lang="en-IN" b="1" cap="none" dirty="0">
                <a:effectLst/>
                <a:latin typeface="Cambria" panose="02040503050406030204" pitchFamily="18" charset="0"/>
                <a:ea typeface="Cambria" panose="02040503050406030204" pitchFamily="18" charset="0"/>
                <a:cs typeface="Times New Roman" panose="02020603050405020304" pitchFamily="18" charset="0"/>
              </a:rPr>
              <a:t>Output:</a:t>
            </a:r>
            <a:r>
              <a:rPr lang="en-IN" cap="none" dirty="0">
                <a:effectLst/>
                <a:latin typeface="Cambria" panose="02040503050406030204" pitchFamily="18" charset="0"/>
                <a:ea typeface="Cambria" panose="02040503050406030204" pitchFamily="18" charset="0"/>
                <a:cs typeface="Times New Roman" panose="02020603050405020304" pitchFamily="18" charset="0"/>
              </a:rPr>
              <a:t> Automatic Approval Or Rejection Of Transactions Based On Contract Rules.</a:t>
            </a:r>
            <a:endParaRPr lang="en-US" cap="none" dirty="0">
              <a:latin typeface="Cambria" panose="02040503050406030204" pitchFamily="18" charset="0"/>
              <a:ea typeface="Cambria" panose="02040503050406030204" pitchFamily="18" charset="0"/>
            </a:endParaRPr>
          </a:p>
          <a:p>
            <a:endParaRPr lang="en-IN" dirty="0"/>
          </a:p>
        </p:txBody>
      </p:sp>
    </p:spTree>
    <p:extLst>
      <p:ext uri="{BB962C8B-B14F-4D97-AF65-F5344CB8AC3E}">
        <p14:creationId xmlns:p14="http://schemas.microsoft.com/office/powerpoint/2010/main" val="1840032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668820-69B4-8B1D-9663-7B6598560275}"/>
              </a:ext>
            </a:extLst>
          </p:cNvPr>
          <p:cNvSpPr>
            <a:spLocks noGrp="1"/>
          </p:cNvSpPr>
          <p:nvPr>
            <p:ph sz="quarter" idx="13"/>
          </p:nvPr>
        </p:nvSpPr>
        <p:spPr>
          <a:xfrm>
            <a:off x="914400" y="1191237"/>
            <a:ext cx="10363826" cy="4725797"/>
          </a:xfrm>
        </p:spPr>
        <p:txBody>
          <a:bodyPr/>
          <a:lstStyle/>
          <a:p>
            <a:pPr marL="0" indent="0">
              <a:buNone/>
            </a:pPr>
            <a:r>
              <a:rPr lang="en-US" sz="2600" b="1" cap="none" dirty="0">
                <a:latin typeface="Cambria" pitchFamily="18" charset="0"/>
                <a:ea typeface="Cambria" pitchFamily="18" charset="0"/>
              </a:rPr>
              <a:t>Patient Module :</a:t>
            </a:r>
            <a:br>
              <a:rPr lang="en-US" sz="2600" cap="none" dirty="0">
                <a:latin typeface="Cambria" pitchFamily="18" charset="0"/>
                <a:ea typeface="Cambria" pitchFamily="18" charset="0"/>
              </a:rPr>
            </a:br>
            <a:r>
              <a:rPr lang="en-US" cap="none" dirty="0">
                <a:latin typeface="Cambria" pitchFamily="18" charset="0"/>
                <a:ea typeface="Cambria" pitchFamily="18" charset="0"/>
              </a:rPr>
              <a:t>Allows patients to create and manage profiles, ensuring secure access to their health records and medication history, Insurance details, and pharma supply chain records.</a:t>
            </a:r>
          </a:p>
          <a:p>
            <a:pPr>
              <a:lnSpc>
                <a:spcPct val="107000"/>
              </a:lnSpc>
              <a:spcAft>
                <a:spcPts val="800"/>
              </a:spcAft>
            </a:pPr>
            <a:r>
              <a:rPr lang="en-IN" b="1" kern="100" cap="none" dirty="0">
                <a:effectLst/>
                <a:latin typeface="Cambria" panose="02040503050406030204" pitchFamily="18" charset="0"/>
                <a:ea typeface="Cambria" panose="02040503050406030204" pitchFamily="18" charset="0"/>
                <a:cs typeface="Times New Roman" panose="02020603050405020304" pitchFamily="18" charset="0"/>
              </a:rPr>
              <a:t>Input:</a:t>
            </a:r>
            <a:r>
              <a:rPr lang="en-IN" kern="100" cap="none" dirty="0">
                <a:effectLst/>
                <a:latin typeface="Cambria" panose="02040503050406030204" pitchFamily="18" charset="0"/>
                <a:ea typeface="Cambria" panose="02040503050406030204" pitchFamily="18" charset="0"/>
                <a:cs typeface="Times New Roman" panose="02020603050405020304" pitchFamily="18" charset="0"/>
              </a:rPr>
              <a:t> Patient’s Profile, Health Records, Prescriptions.</a:t>
            </a:r>
          </a:p>
          <a:p>
            <a:pPr>
              <a:lnSpc>
                <a:spcPct val="107000"/>
              </a:lnSpc>
              <a:spcAft>
                <a:spcPts val="800"/>
              </a:spcAft>
            </a:pPr>
            <a:r>
              <a:rPr lang="en-IN" b="1" kern="100" cap="none" dirty="0">
                <a:effectLst/>
                <a:latin typeface="Cambria" panose="02040503050406030204" pitchFamily="18" charset="0"/>
                <a:ea typeface="Cambria" panose="02040503050406030204" pitchFamily="18" charset="0"/>
                <a:cs typeface="Times New Roman" panose="02020603050405020304" pitchFamily="18" charset="0"/>
              </a:rPr>
              <a:t>Processing:</a:t>
            </a:r>
            <a:r>
              <a:rPr lang="en-IN" kern="100" cap="none" dirty="0">
                <a:effectLst/>
                <a:latin typeface="Cambria" panose="02040503050406030204" pitchFamily="18" charset="0"/>
                <a:ea typeface="Cambria" panose="02040503050406030204" pitchFamily="18" charset="0"/>
                <a:cs typeface="Times New Roman" panose="02020603050405020304" pitchFamily="18" charset="0"/>
              </a:rPr>
              <a:t> </a:t>
            </a:r>
            <a:r>
              <a:rPr lang="en-IN" b="1" kern="100" cap="none" dirty="0">
                <a:effectLst/>
                <a:latin typeface="Cambria" panose="02040503050406030204" pitchFamily="18" charset="0"/>
                <a:ea typeface="Cambria" panose="02040503050406030204" pitchFamily="18" charset="0"/>
                <a:cs typeface="Times New Roman" panose="02020603050405020304" pitchFamily="18" charset="0"/>
              </a:rPr>
              <a:t>Blockchain Query Algorithm</a:t>
            </a:r>
            <a:r>
              <a:rPr lang="en-IN" kern="100" cap="none" dirty="0">
                <a:effectLst/>
                <a:latin typeface="Cambria" panose="02040503050406030204" pitchFamily="18" charset="0"/>
                <a:ea typeface="Cambria" panose="02040503050406030204" pitchFamily="18" charset="0"/>
                <a:cs typeface="Times New Roman" panose="02020603050405020304" pitchFamily="18" charset="0"/>
              </a:rPr>
              <a:t> To Retrieve Patient Data Securely From The Blockchain Using Unique Ids.</a:t>
            </a:r>
          </a:p>
          <a:p>
            <a:pPr>
              <a:lnSpc>
                <a:spcPct val="107000"/>
              </a:lnSpc>
              <a:spcAft>
                <a:spcPts val="800"/>
              </a:spcAft>
            </a:pPr>
            <a:r>
              <a:rPr lang="en-IN" b="1" kern="100" cap="none" dirty="0">
                <a:effectLst/>
                <a:latin typeface="Cambria" panose="02040503050406030204" pitchFamily="18" charset="0"/>
                <a:ea typeface="Cambria" panose="02040503050406030204" pitchFamily="18" charset="0"/>
                <a:cs typeface="Times New Roman" panose="02020603050405020304" pitchFamily="18" charset="0"/>
              </a:rPr>
              <a:t>Output:</a:t>
            </a:r>
            <a:r>
              <a:rPr lang="en-IN" kern="100" cap="none" dirty="0">
                <a:effectLst/>
                <a:latin typeface="Cambria" panose="02040503050406030204" pitchFamily="18" charset="0"/>
                <a:ea typeface="Cambria" panose="02040503050406030204" pitchFamily="18" charset="0"/>
                <a:cs typeface="Times New Roman" panose="02020603050405020304" pitchFamily="18" charset="0"/>
              </a:rPr>
              <a:t> Verified Access To Patient Health Records.</a:t>
            </a:r>
          </a:p>
          <a:p>
            <a:endParaRPr lang="en-IN" dirty="0"/>
          </a:p>
        </p:txBody>
      </p:sp>
    </p:spTree>
    <p:extLst>
      <p:ext uri="{BB962C8B-B14F-4D97-AF65-F5344CB8AC3E}">
        <p14:creationId xmlns:p14="http://schemas.microsoft.com/office/powerpoint/2010/main" val="456530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DE0D06-5B91-C5B6-0898-A7B3FDE13360}"/>
              </a:ext>
            </a:extLst>
          </p:cNvPr>
          <p:cNvSpPr>
            <a:spLocks noGrp="1"/>
          </p:cNvSpPr>
          <p:nvPr>
            <p:ph sz="quarter" idx="13"/>
          </p:nvPr>
        </p:nvSpPr>
        <p:spPr>
          <a:xfrm>
            <a:off x="913774" y="1174460"/>
            <a:ext cx="10363826" cy="4616740"/>
          </a:xfrm>
        </p:spPr>
        <p:txBody>
          <a:bodyPr/>
          <a:lstStyle/>
          <a:p>
            <a:pPr marL="0" indent="0">
              <a:buNone/>
            </a:pPr>
            <a:r>
              <a:rPr lang="en-US" sz="2600" b="1" cap="none" dirty="0">
                <a:latin typeface="Cambria" pitchFamily="18" charset="0"/>
                <a:ea typeface="Cambria" pitchFamily="18" charset="0"/>
              </a:rPr>
              <a:t>Hospital Module :</a:t>
            </a:r>
            <a:br>
              <a:rPr lang="en-US" sz="2600" cap="none" dirty="0">
                <a:latin typeface="Cambria" pitchFamily="18" charset="0"/>
                <a:ea typeface="Cambria" pitchFamily="18" charset="0"/>
              </a:rPr>
            </a:br>
            <a:r>
              <a:rPr lang="en-US" cap="none" dirty="0">
                <a:latin typeface="Cambria" pitchFamily="18" charset="0"/>
                <a:ea typeface="Cambria" pitchFamily="18" charset="0"/>
              </a:rPr>
              <a:t>Helps hospitals track and manage their pharmaceutical inventory, ensuring they have access to authentic medications and preventing stockouts.</a:t>
            </a:r>
          </a:p>
          <a:p>
            <a:pPr>
              <a:lnSpc>
                <a:spcPct val="107000"/>
              </a:lnSpc>
              <a:spcAft>
                <a:spcPts val="800"/>
              </a:spcAft>
            </a:pPr>
            <a:r>
              <a:rPr lang="en-IN" b="1" kern="100" cap="none" dirty="0">
                <a:effectLst/>
                <a:latin typeface="Cambria" panose="02040503050406030204" pitchFamily="18" charset="0"/>
                <a:ea typeface="Cambria" panose="02040503050406030204" pitchFamily="18" charset="0"/>
                <a:cs typeface="Times New Roman" panose="02020603050405020304" pitchFamily="18" charset="0"/>
              </a:rPr>
              <a:t>Input:</a:t>
            </a:r>
            <a:r>
              <a:rPr lang="en-IN" kern="100" cap="none" dirty="0">
                <a:effectLst/>
                <a:latin typeface="Cambria" panose="02040503050406030204" pitchFamily="18" charset="0"/>
                <a:ea typeface="Cambria" panose="02040503050406030204" pitchFamily="18" charset="0"/>
                <a:cs typeface="Times New Roman" panose="02020603050405020304" pitchFamily="18" charset="0"/>
              </a:rPr>
              <a:t> Inventory Details, Stock Levels, Procurement Requests.</a:t>
            </a:r>
          </a:p>
          <a:p>
            <a:pPr>
              <a:lnSpc>
                <a:spcPct val="107000"/>
              </a:lnSpc>
              <a:spcAft>
                <a:spcPts val="800"/>
              </a:spcAft>
            </a:pPr>
            <a:r>
              <a:rPr lang="en-IN" b="1" kern="100" cap="none" dirty="0">
                <a:effectLst/>
                <a:latin typeface="Cambria" panose="02040503050406030204" pitchFamily="18" charset="0"/>
                <a:ea typeface="Cambria" panose="02040503050406030204" pitchFamily="18" charset="0"/>
                <a:cs typeface="Times New Roman" panose="02020603050405020304" pitchFamily="18" charset="0"/>
              </a:rPr>
              <a:t>Processing:</a:t>
            </a:r>
            <a:r>
              <a:rPr lang="en-IN" kern="100" cap="none" dirty="0">
                <a:effectLst/>
                <a:latin typeface="Cambria" panose="02040503050406030204" pitchFamily="18" charset="0"/>
                <a:ea typeface="Cambria" panose="02040503050406030204" pitchFamily="18" charset="0"/>
                <a:cs typeface="Times New Roman" panose="02020603050405020304" pitchFamily="18" charset="0"/>
              </a:rPr>
              <a:t> </a:t>
            </a:r>
            <a:r>
              <a:rPr lang="en-IN" b="1" kern="100" cap="none" dirty="0">
                <a:effectLst/>
                <a:latin typeface="Cambria" panose="02040503050406030204" pitchFamily="18" charset="0"/>
                <a:ea typeface="Cambria" panose="02040503050406030204" pitchFamily="18" charset="0"/>
                <a:cs typeface="Times New Roman" panose="02020603050405020304" pitchFamily="18" charset="0"/>
              </a:rPr>
              <a:t>Blockchain Query Algorithm</a:t>
            </a:r>
            <a:r>
              <a:rPr lang="en-IN" kern="100" cap="none" dirty="0">
                <a:effectLst/>
                <a:latin typeface="Cambria" panose="02040503050406030204" pitchFamily="18" charset="0"/>
                <a:ea typeface="Cambria" panose="02040503050406030204" pitchFamily="18" charset="0"/>
                <a:cs typeface="Times New Roman" panose="02020603050405020304" pitchFamily="18" charset="0"/>
              </a:rPr>
              <a:t> to Verify Drug Authenticity and Track Inventory Updates in Real-time.</a:t>
            </a:r>
          </a:p>
          <a:p>
            <a:r>
              <a:rPr lang="en-IN" b="1" cap="none" dirty="0">
                <a:effectLst/>
                <a:latin typeface="Cambria" panose="02040503050406030204" pitchFamily="18" charset="0"/>
                <a:ea typeface="Cambria" panose="02040503050406030204" pitchFamily="18" charset="0"/>
                <a:cs typeface="Times New Roman" panose="02020603050405020304" pitchFamily="18" charset="0"/>
              </a:rPr>
              <a:t>Output:</a:t>
            </a:r>
            <a:r>
              <a:rPr lang="en-IN" cap="none" dirty="0">
                <a:effectLst/>
                <a:latin typeface="Cambria" panose="02040503050406030204" pitchFamily="18" charset="0"/>
                <a:ea typeface="Cambria" panose="02040503050406030204" pitchFamily="18" charset="0"/>
                <a:cs typeface="Times New Roman" panose="02020603050405020304" pitchFamily="18" charset="0"/>
              </a:rPr>
              <a:t> Updated Inventory Status with Alerts for Low Stock or Counterfeit Drugs.</a:t>
            </a:r>
            <a:endParaRPr lang="en-IN" cap="none"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27721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9C3746-3242-1E51-87AD-EB2270F7F11F}"/>
              </a:ext>
            </a:extLst>
          </p:cNvPr>
          <p:cNvSpPr>
            <a:spLocks noGrp="1"/>
          </p:cNvSpPr>
          <p:nvPr>
            <p:ph sz="quarter" idx="13"/>
          </p:nvPr>
        </p:nvSpPr>
        <p:spPr>
          <a:xfrm>
            <a:off x="913774" y="1215736"/>
            <a:ext cx="10363826" cy="4575463"/>
          </a:xfrm>
        </p:spPr>
        <p:txBody>
          <a:bodyPr>
            <a:normAutofit/>
          </a:bodyPr>
          <a:lstStyle/>
          <a:p>
            <a:pPr marL="0" indent="0">
              <a:buNone/>
            </a:pPr>
            <a:r>
              <a:rPr lang="en-IN" sz="2600" b="1" dirty="0">
                <a:latin typeface="Cambria" panose="02040503050406030204" pitchFamily="18" charset="0"/>
                <a:ea typeface="Cambria" panose="02040503050406030204" pitchFamily="18" charset="0"/>
              </a:rPr>
              <a:t>Admin Module</a:t>
            </a:r>
          </a:p>
          <a:p>
            <a:pPr marL="0" indent="0">
              <a:lnSpc>
                <a:spcPct val="107000"/>
              </a:lnSpc>
              <a:spcAft>
                <a:spcPts val="800"/>
              </a:spcAft>
              <a:buNone/>
            </a:pPr>
            <a:r>
              <a:rPr lang="en-IN" kern="100" cap="none" dirty="0">
                <a:effectLst/>
                <a:latin typeface="Cambria" panose="02040503050406030204" pitchFamily="18" charset="0"/>
                <a:ea typeface="Cambria" panose="02040503050406030204" pitchFamily="18" charset="0"/>
                <a:cs typeface="Times New Roman" panose="02020603050405020304" pitchFamily="18" charset="0"/>
              </a:rPr>
              <a:t>Manages And Monitors The Entire Drug Supply Chain, Ensuring Everything Runs Smoothly And Securely.</a:t>
            </a:r>
          </a:p>
          <a:p>
            <a:pPr>
              <a:lnSpc>
                <a:spcPct val="107000"/>
              </a:lnSpc>
              <a:spcAft>
                <a:spcPts val="800"/>
              </a:spcAft>
            </a:pPr>
            <a:r>
              <a:rPr lang="en-IN" b="1" kern="100" cap="none" dirty="0">
                <a:effectLst/>
                <a:latin typeface="Cambria" panose="02040503050406030204" pitchFamily="18" charset="0"/>
                <a:ea typeface="Cambria" panose="02040503050406030204" pitchFamily="18" charset="0"/>
                <a:cs typeface="Times New Roman" panose="02020603050405020304" pitchFamily="18" charset="0"/>
              </a:rPr>
              <a:t>Input:</a:t>
            </a:r>
            <a:r>
              <a:rPr lang="en-IN" kern="100" cap="none" dirty="0">
                <a:effectLst/>
                <a:latin typeface="Cambria" panose="02040503050406030204" pitchFamily="18" charset="0"/>
                <a:ea typeface="Cambria" panose="02040503050406030204" pitchFamily="18" charset="0"/>
                <a:cs typeface="Times New Roman" panose="02020603050405020304" pitchFamily="18" charset="0"/>
              </a:rPr>
              <a:t> User Details, System Settings, And Compliance Reports.</a:t>
            </a:r>
          </a:p>
          <a:p>
            <a:pPr>
              <a:lnSpc>
                <a:spcPct val="107000"/>
              </a:lnSpc>
              <a:spcAft>
                <a:spcPts val="800"/>
              </a:spcAft>
            </a:pPr>
            <a:r>
              <a:rPr lang="en-IN" b="1" kern="100" cap="none" dirty="0">
                <a:effectLst/>
                <a:latin typeface="Cambria" panose="02040503050406030204" pitchFamily="18" charset="0"/>
                <a:ea typeface="Cambria" panose="02040503050406030204" pitchFamily="18" charset="0"/>
                <a:cs typeface="Times New Roman" panose="02020603050405020304" pitchFamily="18" charset="0"/>
              </a:rPr>
              <a:t>Processing:</a:t>
            </a:r>
            <a:r>
              <a:rPr lang="en-IN" kern="100" cap="none" dirty="0">
                <a:effectLst/>
                <a:latin typeface="Cambria" panose="02040503050406030204" pitchFamily="18" charset="0"/>
                <a:ea typeface="Cambria" panose="02040503050406030204" pitchFamily="18" charset="0"/>
                <a:cs typeface="Times New Roman" panose="02020603050405020304" pitchFamily="18" charset="0"/>
              </a:rPr>
              <a:t> Controls User Access, Oversees Security, And Checks Compliance With Rules.</a:t>
            </a:r>
          </a:p>
          <a:p>
            <a:pPr>
              <a:lnSpc>
                <a:spcPct val="107000"/>
              </a:lnSpc>
              <a:spcAft>
                <a:spcPts val="800"/>
              </a:spcAft>
            </a:pPr>
            <a:r>
              <a:rPr lang="en-IN" kern="100" cap="none" dirty="0">
                <a:effectLst/>
                <a:latin typeface="Cambria" panose="02040503050406030204" pitchFamily="18" charset="0"/>
                <a:ea typeface="Cambria" panose="02040503050406030204" pitchFamily="18" charset="0"/>
                <a:cs typeface="Times New Roman" panose="02020603050405020304" pitchFamily="18" charset="0"/>
              </a:rPr>
              <a:t> </a:t>
            </a:r>
            <a:r>
              <a:rPr lang="en-IN" b="1" kern="100" cap="none" dirty="0">
                <a:effectLst/>
                <a:latin typeface="Cambria" panose="02040503050406030204" pitchFamily="18" charset="0"/>
                <a:ea typeface="Cambria" panose="02040503050406030204" pitchFamily="18" charset="0"/>
                <a:cs typeface="Times New Roman" panose="02020603050405020304" pitchFamily="18" charset="0"/>
              </a:rPr>
              <a:t>Output:</a:t>
            </a:r>
            <a:r>
              <a:rPr lang="en-IN" kern="100" cap="none" dirty="0">
                <a:effectLst/>
                <a:latin typeface="Cambria" panose="02040503050406030204" pitchFamily="18" charset="0"/>
                <a:ea typeface="Cambria" panose="02040503050406030204" pitchFamily="18" charset="0"/>
                <a:cs typeface="Times New Roman" panose="02020603050405020304" pitchFamily="18" charset="0"/>
              </a:rPr>
              <a:t> Logs Of User Activities, System Performance Reports, And Alerts For Any Issues.</a:t>
            </a:r>
          </a:p>
          <a:p>
            <a:endParaRPr lang="en-IN" sz="26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32598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9C3746-3242-1E51-87AD-EB2270F7F11F}"/>
              </a:ext>
            </a:extLst>
          </p:cNvPr>
          <p:cNvSpPr>
            <a:spLocks noGrp="1"/>
          </p:cNvSpPr>
          <p:nvPr>
            <p:ph sz="quarter" idx="13"/>
          </p:nvPr>
        </p:nvSpPr>
        <p:spPr>
          <a:xfrm>
            <a:off x="913774" y="1215736"/>
            <a:ext cx="10363826" cy="4575463"/>
          </a:xfrm>
        </p:spPr>
        <p:txBody>
          <a:bodyPr>
            <a:normAutofit/>
          </a:bodyPr>
          <a:lstStyle/>
          <a:p>
            <a:pPr marL="0" indent="0">
              <a:lnSpc>
                <a:spcPct val="150000"/>
              </a:lnSpc>
              <a:buNone/>
            </a:pPr>
            <a:r>
              <a:rPr lang="en-IN" sz="2600" b="1" dirty="0">
                <a:latin typeface="Cambria" panose="02040503050406030204" pitchFamily="18" charset="0"/>
                <a:ea typeface="Cambria" panose="02040503050406030204" pitchFamily="18" charset="0"/>
              </a:rPr>
              <a:t>Pharmacy Module</a:t>
            </a:r>
          </a:p>
          <a:p>
            <a:pPr>
              <a:lnSpc>
                <a:spcPct val="150000"/>
              </a:lnSpc>
            </a:pPr>
            <a:r>
              <a:rPr lang="en-US" cap="none" dirty="0">
                <a:latin typeface="Cambria" panose="02040503050406030204" pitchFamily="18" charset="0"/>
                <a:ea typeface="Cambria" panose="02040503050406030204" pitchFamily="18" charset="0"/>
              </a:rPr>
              <a:t>Manages Drug Sales And Verifies Product Authenticity Before Dispensing To Customers.</a:t>
            </a:r>
          </a:p>
          <a:p>
            <a:pPr lvl="1">
              <a:lnSpc>
                <a:spcPct val="150000"/>
              </a:lnSpc>
            </a:pPr>
            <a:r>
              <a:rPr lang="en-US" sz="2000" b="1" cap="none" dirty="0">
                <a:latin typeface="Cambria" panose="02040503050406030204" pitchFamily="18" charset="0"/>
                <a:ea typeface="Cambria" panose="02040503050406030204" pitchFamily="18" charset="0"/>
              </a:rPr>
              <a:t>Input</a:t>
            </a:r>
            <a:r>
              <a:rPr lang="en-US" sz="2000" cap="none" dirty="0">
                <a:latin typeface="Cambria" panose="02040503050406030204" pitchFamily="18" charset="0"/>
                <a:ea typeface="Cambria" panose="02040503050406030204" pitchFamily="18" charset="0"/>
              </a:rPr>
              <a:t>: Customer Drug Requests And Drug Authentication Details.</a:t>
            </a:r>
          </a:p>
          <a:p>
            <a:pPr lvl="1">
              <a:lnSpc>
                <a:spcPct val="150000"/>
              </a:lnSpc>
            </a:pPr>
            <a:r>
              <a:rPr lang="en-US" sz="2000" b="1" cap="none" dirty="0">
                <a:latin typeface="Cambria" panose="02040503050406030204" pitchFamily="18" charset="0"/>
                <a:ea typeface="Cambria" panose="02040503050406030204" pitchFamily="18" charset="0"/>
              </a:rPr>
              <a:t>Processing</a:t>
            </a:r>
            <a:r>
              <a:rPr lang="en-US" sz="2000" cap="none" dirty="0">
                <a:latin typeface="Cambria" panose="02040503050406030204" pitchFamily="18" charset="0"/>
                <a:ea typeface="Cambria" panose="02040503050406030204" pitchFamily="18" charset="0"/>
              </a:rPr>
              <a:t>: Verifies Drug Batch Via Blockchain And Confirms Validity.</a:t>
            </a:r>
          </a:p>
          <a:p>
            <a:pPr lvl="1">
              <a:lnSpc>
                <a:spcPct val="150000"/>
              </a:lnSpc>
            </a:pPr>
            <a:r>
              <a:rPr lang="en-US" sz="2000" b="1" cap="none" dirty="0">
                <a:latin typeface="Cambria" panose="02040503050406030204" pitchFamily="18" charset="0"/>
                <a:ea typeface="Cambria" panose="02040503050406030204" pitchFamily="18" charset="0"/>
              </a:rPr>
              <a:t>Output</a:t>
            </a:r>
            <a:r>
              <a:rPr lang="en-US" sz="2000" cap="none" dirty="0">
                <a:latin typeface="Cambria" panose="02040503050406030204" pitchFamily="18" charset="0"/>
                <a:ea typeface="Cambria" panose="02040503050406030204" pitchFamily="18" charset="0"/>
              </a:rPr>
              <a:t>: Dispenses Genuine Drug And Logs Transaction To Blockchain.</a:t>
            </a:r>
          </a:p>
          <a:p>
            <a:pPr>
              <a:lnSpc>
                <a:spcPct val="150000"/>
              </a:lnSpc>
            </a:pPr>
            <a:endParaRPr lang="en-IN" sz="26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323626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9C3746-3242-1E51-87AD-EB2270F7F11F}"/>
              </a:ext>
            </a:extLst>
          </p:cNvPr>
          <p:cNvSpPr>
            <a:spLocks noGrp="1"/>
          </p:cNvSpPr>
          <p:nvPr>
            <p:ph sz="quarter" idx="13"/>
          </p:nvPr>
        </p:nvSpPr>
        <p:spPr>
          <a:xfrm>
            <a:off x="913774" y="1215736"/>
            <a:ext cx="10363826" cy="4575463"/>
          </a:xfrm>
        </p:spPr>
        <p:txBody>
          <a:bodyPr>
            <a:normAutofit/>
          </a:bodyPr>
          <a:lstStyle/>
          <a:p>
            <a:pPr marL="0" indent="0">
              <a:lnSpc>
                <a:spcPct val="150000"/>
              </a:lnSpc>
              <a:buNone/>
            </a:pPr>
            <a:r>
              <a:rPr lang="en-IN" sz="2600" b="1" dirty="0">
                <a:latin typeface="Cambria" panose="02040503050406030204" pitchFamily="18" charset="0"/>
                <a:ea typeface="Cambria" panose="02040503050406030204" pitchFamily="18" charset="0"/>
              </a:rPr>
              <a:t>Supplier Module</a:t>
            </a:r>
          </a:p>
          <a:p>
            <a:pPr>
              <a:lnSpc>
                <a:spcPct val="150000"/>
              </a:lnSpc>
            </a:pPr>
            <a:r>
              <a:rPr lang="en-US" cap="none" dirty="0">
                <a:latin typeface="Cambria" panose="02040503050406030204" pitchFamily="18" charset="0"/>
                <a:ea typeface="Cambria" panose="02040503050406030204" pitchFamily="18" charset="0"/>
              </a:rPr>
              <a:t>Supplies medicines to dealers or wholesalers and updates product batches..</a:t>
            </a:r>
          </a:p>
          <a:p>
            <a:pPr lvl="1">
              <a:lnSpc>
                <a:spcPct val="150000"/>
              </a:lnSpc>
            </a:pPr>
            <a:r>
              <a:rPr lang="en-US" sz="2000" b="1" cap="none" dirty="0">
                <a:latin typeface="Cambria" panose="02040503050406030204" pitchFamily="18" charset="0"/>
                <a:ea typeface="Cambria" panose="02040503050406030204" pitchFamily="18" charset="0"/>
              </a:rPr>
              <a:t>Input</a:t>
            </a:r>
            <a:r>
              <a:rPr lang="en-US" sz="2000" cap="none" dirty="0">
                <a:latin typeface="Cambria" panose="02040503050406030204" pitchFamily="18" charset="0"/>
                <a:ea typeface="Cambria" panose="02040503050406030204" pitchFamily="18" charset="0"/>
              </a:rPr>
              <a:t>: Drug production data and supply request.</a:t>
            </a:r>
          </a:p>
          <a:p>
            <a:pPr lvl="1">
              <a:lnSpc>
                <a:spcPct val="150000"/>
              </a:lnSpc>
            </a:pPr>
            <a:r>
              <a:rPr lang="en-US" sz="2000" b="1" cap="none" dirty="0">
                <a:latin typeface="Cambria" panose="02040503050406030204" pitchFamily="18" charset="0"/>
                <a:ea typeface="Cambria" panose="02040503050406030204" pitchFamily="18" charset="0"/>
              </a:rPr>
              <a:t>Processing</a:t>
            </a:r>
            <a:r>
              <a:rPr lang="en-US" sz="2000" cap="none" dirty="0">
                <a:latin typeface="Cambria" panose="02040503050406030204" pitchFamily="18" charset="0"/>
                <a:ea typeface="Cambria" panose="02040503050406030204" pitchFamily="18" charset="0"/>
              </a:rPr>
              <a:t>: Encrypts and stores batch data in blockchain using smart contracts.</a:t>
            </a:r>
          </a:p>
          <a:p>
            <a:pPr lvl="1">
              <a:lnSpc>
                <a:spcPct val="150000"/>
              </a:lnSpc>
            </a:pPr>
            <a:r>
              <a:rPr lang="en-US" sz="2000" b="1" cap="none" dirty="0">
                <a:latin typeface="Cambria" panose="02040503050406030204" pitchFamily="18" charset="0"/>
                <a:ea typeface="Cambria" panose="02040503050406030204" pitchFamily="18" charset="0"/>
              </a:rPr>
              <a:t>Output</a:t>
            </a:r>
            <a:r>
              <a:rPr lang="en-US" sz="2000" cap="none" dirty="0">
                <a:latin typeface="Cambria" panose="02040503050406030204" pitchFamily="18" charset="0"/>
                <a:ea typeface="Cambria" panose="02040503050406030204" pitchFamily="18" charset="0"/>
              </a:rPr>
              <a:t>: Immutable batch entry with supply status update.</a:t>
            </a:r>
          </a:p>
          <a:p>
            <a:pPr>
              <a:lnSpc>
                <a:spcPct val="150000"/>
              </a:lnSpc>
            </a:pPr>
            <a:endParaRPr lang="en-IN" sz="26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319460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9C3746-3242-1E51-87AD-EB2270F7F11F}"/>
              </a:ext>
            </a:extLst>
          </p:cNvPr>
          <p:cNvSpPr>
            <a:spLocks noGrp="1"/>
          </p:cNvSpPr>
          <p:nvPr>
            <p:ph sz="quarter" idx="13"/>
          </p:nvPr>
        </p:nvSpPr>
        <p:spPr>
          <a:xfrm>
            <a:off x="913774" y="1215736"/>
            <a:ext cx="10363826" cy="4575463"/>
          </a:xfrm>
        </p:spPr>
        <p:txBody>
          <a:bodyPr>
            <a:normAutofit/>
          </a:bodyPr>
          <a:lstStyle/>
          <a:p>
            <a:pPr marL="0" indent="0">
              <a:lnSpc>
                <a:spcPct val="150000"/>
              </a:lnSpc>
              <a:buNone/>
            </a:pPr>
            <a:r>
              <a:rPr lang="en-IN" sz="2600" b="1" dirty="0">
                <a:latin typeface="Cambria" panose="02040503050406030204" pitchFamily="18" charset="0"/>
                <a:ea typeface="Cambria" panose="02040503050406030204" pitchFamily="18" charset="0"/>
              </a:rPr>
              <a:t>Dealer Module</a:t>
            </a:r>
          </a:p>
          <a:p>
            <a:pPr>
              <a:lnSpc>
                <a:spcPct val="150000"/>
              </a:lnSpc>
            </a:pPr>
            <a:r>
              <a:rPr lang="en-US" cap="none" dirty="0">
                <a:latin typeface="Cambria" panose="02040503050406030204" pitchFamily="18" charset="0"/>
                <a:ea typeface="Cambria" panose="02040503050406030204" pitchFamily="18" charset="0"/>
              </a:rPr>
              <a:t>Acts as an intermediary, confirming the integrity of drugs received.</a:t>
            </a:r>
          </a:p>
          <a:p>
            <a:pPr lvl="1">
              <a:lnSpc>
                <a:spcPct val="150000"/>
              </a:lnSpc>
            </a:pPr>
            <a:r>
              <a:rPr lang="en-US" sz="2000" b="1" cap="none" dirty="0">
                <a:latin typeface="Cambria" panose="02040503050406030204" pitchFamily="18" charset="0"/>
                <a:ea typeface="Cambria" panose="02040503050406030204" pitchFamily="18" charset="0"/>
              </a:rPr>
              <a:t>Input</a:t>
            </a:r>
            <a:r>
              <a:rPr lang="en-US" sz="2000" cap="none" dirty="0">
                <a:latin typeface="Cambria" panose="02040503050406030204" pitchFamily="18" charset="0"/>
                <a:ea typeface="Cambria" panose="02040503050406030204" pitchFamily="18" charset="0"/>
              </a:rPr>
              <a:t>: Supply batch details from supplier.</a:t>
            </a:r>
          </a:p>
          <a:p>
            <a:pPr lvl="1">
              <a:lnSpc>
                <a:spcPct val="150000"/>
              </a:lnSpc>
            </a:pPr>
            <a:r>
              <a:rPr lang="en-US" sz="2000" b="1" cap="none" dirty="0">
                <a:latin typeface="Cambria" panose="02040503050406030204" pitchFamily="18" charset="0"/>
                <a:ea typeface="Cambria" panose="02040503050406030204" pitchFamily="18" charset="0"/>
              </a:rPr>
              <a:t>Processing</a:t>
            </a:r>
            <a:r>
              <a:rPr lang="en-US" sz="2000" cap="none" dirty="0">
                <a:latin typeface="Cambria" panose="02040503050406030204" pitchFamily="18" charset="0"/>
                <a:ea typeface="Cambria" panose="02040503050406030204" pitchFamily="18" charset="0"/>
              </a:rPr>
              <a:t>: Cross-checks batch history and approves transfer via smart contract.</a:t>
            </a:r>
          </a:p>
          <a:p>
            <a:pPr lvl="1">
              <a:lnSpc>
                <a:spcPct val="150000"/>
              </a:lnSpc>
            </a:pPr>
            <a:r>
              <a:rPr lang="en-US" sz="2000" b="1" cap="none" dirty="0">
                <a:latin typeface="Cambria" panose="02040503050406030204" pitchFamily="18" charset="0"/>
                <a:ea typeface="Cambria" panose="02040503050406030204" pitchFamily="18" charset="0"/>
              </a:rPr>
              <a:t>Output</a:t>
            </a:r>
            <a:r>
              <a:rPr lang="en-US" sz="2000" cap="none" dirty="0">
                <a:latin typeface="Cambria" panose="02040503050406030204" pitchFamily="18" charset="0"/>
                <a:ea typeface="Cambria" panose="02040503050406030204" pitchFamily="18" charset="0"/>
              </a:rPr>
              <a:t>: Acknowledgement of receipt and verification log.</a:t>
            </a:r>
          </a:p>
          <a:p>
            <a:pPr>
              <a:lnSpc>
                <a:spcPct val="150000"/>
              </a:lnSpc>
            </a:pPr>
            <a:endParaRPr lang="en-IN" sz="26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819078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9C3746-3242-1E51-87AD-EB2270F7F11F}"/>
              </a:ext>
            </a:extLst>
          </p:cNvPr>
          <p:cNvSpPr>
            <a:spLocks noGrp="1"/>
          </p:cNvSpPr>
          <p:nvPr>
            <p:ph sz="quarter" idx="13"/>
          </p:nvPr>
        </p:nvSpPr>
        <p:spPr>
          <a:xfrm>
            <a:off x="913774" y="1215736"/>
            <a:ext cx="10363826" cy="4575463"/>
          </a:xfrm>
        </p:spPr>
        <p:txBody>
          <a:bodyPr>
            <a:normAutofit/>
          </a:bodyPr>
          <a:lstStyle/>
          <a:p>
            <a:pPr marL="0" indent="0">
              <a:lnSpc>
                <a:spcPct val="150000"/>
              </a:lnSpc>
              <a:buNone/>
            </a:pPr>
            <a:r>
              <a:rPr lang="en-IN" sz="2600" b="1" dirty="0">
                <a:latin typeface="Cambria" panose="02040503050406030204" pitchFamily="18" charset="0"/>
                <a:ea typeface="Cambria" panose="02040503050406030204" pitchFamily="18" charset="0"/>
              </a:rPr>
              <a:t>Wholesaler Module</a:t>
            </a:r>
          </a:p>
          <a:p>
            <a:pPr>
              <a:lnSpc>
                <a:spcPct val="150000"/>
              </a:lnSpc>
            </a:pPr>
            <a:r>
              <a:rPr lang="en-US" cap="none" dirty="0">
                <a:latin typeface="Cambria" panose="02040503050406030204" pitchFamily="18" charset="0"/>
                <a:ea typeface="Cambria" panose="02040503050406030204" pitchFamily="18" charset="0"/>
              </a:rPr>
              <a:t>Handles bulk drug distribution and tracks shipment authenticity.</a:t>
            </a:r>
          </a:p>
          <a:p>
            <a:pPr lvl="1">
              <a:lnSpc>
                <a:spcPct val="150000"/>
              </a:lnSpc>
            </a:pPr>
            <a:r>
              <a:rPr lang="en-US" sz="2000" b="1" cap="none" dirty="0">
                <a:latin typeface="Cambria" panose="02040503050406030204" pitchFamily="18" charset="0"/>
                <a:ea typeface="Cambria" panose="02040503050406030204" pitchFamily="18" charset="0"/>
              </a:rPr>
              <a:t>Input</a:t>
            </a:r>
            <a:r>
              <a:rPr lang="en-US" sz="2000" cap="none" dirty="0">
                <a:latin typeface="Cambria" panose="02040503050406030204" pitchFamily="18" charset="0"/>
                <a:ea typeface="Cambria" panose="02040503050406030204" pitchFamily="18" charset="0"/>
              </a:rPr>
              <a:t>: Drug orders from pharmacies and verified batch info.</a:t>
            </a:r>
          </a:p>
          <a:p>
            <a:pPr lvl="1">
              <a:lnSpc>
                <a:spcPct val="150000"/>
              </a:lnSpc>
            </a:pPr>
            <a:r>
              <a:rPr lang="en-US" sz="2000" b="1" cap="none" dirty="0">
                <a:latin typeface="Cambria" panose="02040503050406030204" pitchFamily="18" charset="0"/>
                <a:ea typeface="Cambria" panose="02040503050406030204" pitchFamily="18" charset="0"/>
              </a:rPr>
              <a:t>Processing</a:t>
            </a:r>
            <a:r>
              <a:rPr lang="en-US" sz="2000" cap="none" dirty="0">
                <a:latin typeface="Cambria" panose="02040503050406030204" pitchFamily="18" charset="0"/>
                <a:ea typeface="Cambria" panose="02040503050406030204" pitchFamily="18" charset="0"/>
              </a:rPr>
              <a:t>: Matches order with verified stock and records dispatch.</a:t>
            </a:r>
          </a:p>
          <a:p>
            <a:pPr lvl="1">
              <a:lnSpc>
                <a:spcPct val="150000"/>
              </a:lnSpc>
            </a:pPr>
            <a:r>
              <a:rPr lang="en-US" sz="2000" b="1" cap="none" dirty="0">
                <a:latin typeface="Cambria" panose="02040503050406030204" pitchFamily="18" charset="0"/>
                <a:ea typeface="Cambria" panose="02040503050406030204" pitchFamily="18" charset="0"/>
              </a:rPr>
              <a:t>Output</a:t>
            </a:r>
            <a:r>
              <a:rPr lang="en-US" sz="2000" cap="none" dirty="0">
                <a:latin typeface="Cambria" panose="02040503050406030204" pitchFamily="18" charset="0"/>
                <a:ea typeface="Cambria" panose="02040503050406030204" pitchFamily="18" charset="0"/>
              </a:rPr>
              <a:t>: Shipment record with traceable blockchain transaction.</a:t>
            </a:r>
          </a:p>
          <a:p>
            <a:pPr>
              <a:lnSpc>
                <a:spcPct val="150000"/>
              </a:lnSpc>
            </a:pPr>
            <a:endParaRPr lang="en-IN" sz="26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08814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libri" panose="020F0502020204030204" pitchFamily="34" charset="0"/>
                <a:cs typeface="Calibri" panose="020F0502020204030204" pitchFamily="34" charset="0"/>
              </a:rPr>
              <a:t>ALGOR</a:t>
            </a:r>
            <a:r>
              <a:rPr lang="en-US" b="1" cap="none" dirty="0">
                <a:latin typeface="Calibri" panose="020F0502020204030204" pitchFamily="34" charset="0"/>
                <a:cs typeface="Calibri" panose="020F0502020204030204" pitchFamily="34" charset="0"/>
              </a:rPr>
              <a:t>I</a:t>
            </a:r>
            <a:r>
              <a:rPr lang="en-US" b="1" dirty="0">
                <a:latin typeface="Calibri" panose="020F0502020204030204" pitchFamily="34" charset="0"/>
                <a:cs typeface="Calibri" panose="020F0502020204030204" pitchFamily="34" charset="0"/>
              </a:rPr>
              <a:t>THM</a:t>
            </a:r>
          </a:p>
        </p:txBody>
      </p:sp>
      <p:sp>
        <p:nvSpPr>
          <p:cNvPr id="3" name="Content Placeholder 2"/>
          <p:cNvSpPr>
            <a:spLocks noGrp="1"/>
          </p:cNvSpPr>
          <p:nvPr>
            <p:ph sz="quarter" idx="13"/>
          </p:nvPr>
        </p:nvSpPr>
        <p:spPr>
          <a:xfrm>
            <a:off x="2342724" y="2310582"/>
            <a:ext cx="6594798" cy="2467896"/>
          </a:xfrm>
        </p:spPr>
        <p:txBody>
          <a:bodyPr>
            <a:normAutofit/>
          </a:bodyPr>
          <a:lstStyle/>
          <a:p>
            <a:r>
              <a:rPr lang="en-US" b="1" cap="none" dirty="0">
                <a:latin typeface="Cambria" pitchFamily="18" charset="0"/>
                <a:ea typeface="Cambria" pitchFamily="18" charset="0"/>
                <a:cs typeface="Calibri" panose="020F0502020204030204" pitchFamily="34" charset="0"/>
              </a:rPr>
              <a:t>Algorithm 1: </a:t>
            </a:r>
            <a:r>
              <a:rPr lang="en-US" cap="none" dirty="0">
                <a:latin typeface="Cambria" pitchFamily="18" charset="0"/>
                <a:ea typeface="Cambria" pitchFamily="18" charset="0"/>
                <a:cs typeface="Calibri" panose="020F0502020204030204" pitchFamily="34" charset="0"/>
              </a:rPr>
              <a:t>Hash Generation</a:t>
            </a:r>
          </a:p>
          <a:p>
            <a:r>
              <a:rPr lang="en-US" b="1" cap="none" dirty="0">
                <a:latin typeface="Cambria" pitchFamily="18" charset="0"/>
                <a:ea typeface="Cambria" pitchFamily="18" charset="0"/>
                <a:cs typeface="Calibri" panose="020F0502020204030204" pitchFamily="34" charset="0"/>
              </a:rPr>
              <a:t>Algorithm 2: </a:t>
            </a:r>
            <a:r>
              <a:rPr lang="en-US" cap="none" dirty="0">
                <a:latin typeface="Cambria" pitchFamily="18" charset="0"/>
                <a:ea typeface="Cambria" pitchFamily="18" charset="0"/>
                <a:cs typeface="Calibri" panose="020F0502020204030204" pitchFamily="34" charset="0"/>
              </a:rPr>
              <a:t>Protocol For Peer Verification</a:t>
            </a:r>
          </a:p>
          <a:p>
            <a:r>
              <a:rPr lang="en-US" b="1" cap="none" dirty="0">
                <a:latin typeface="Cambria" pitchFamily="18" charset="0"/>
                <a:ea typeface="Cambria" pitchFamily="18" charset="0"/>
                <a:cs typeface="Calibri" panose="020F0502020204030204" pitchFamily="34" charset="0"/>
              </a:rPr>
              <a:t>Algorithm 3: </a:t>
            </a:r>
            <a:r>
              <a:rPr lang="en-US" cap="none" dirty="0">
                <a:latin typeface="Cambria" pitchFamily="18" charset="0"/>
                <a:ea typeface="Cambria" pitchFamily="18" charset="0"/>
                <a:cs typeface="Calibri" panose="020F0502020204030204" pitchFamily="34" charset="0"/>
              </a:rPr>
              <a:t>Mining Algorithm For Valid Hash Creation</a:t>
            </a:r>
          </a:p>
          <a:p>
            <a:r>
              <a:rPr lang="en-US" b="1" cap="none" dirty="0">
                <a:latin typeface="Cambria" pitchFamily="18" charset="0"/>
                <a:ea typeface="Cambria" pitchFamily="18" charset="0"/>
                <a:cs typeface="Calibri" panose="020F0502020204030204" pitchFamily="34" charset="0"/>
              </a:rPr>
              <a:t>Algorithm 4: </a:t>
            </a:r>
            <a:r>
              <a:rPr lang="en-US" cap="none" dirty="0">
                <a:latin typeface="Cambria" pitchFamily="18" charset="0"/>
                <a:ea typeface="Cambria" pitchFamily="18" charset="0"/>
                <a:cs typeface="Calibri" panose="020F0502020204030204" pitchFamily="34" charset="0"/>
              </a:rPr>
              <a:t>SHA-256</a:t>
            </a:r>
          </a:p>
        </p:txBody>
      </p:sp>
    </p:spTree>
    <p:extLst>
      <p:ext uri="{BB962C8B-B14F-4D97-AF65-F5344CB8AC3E}">
        <p14:creationId xmlns:p14="http://schemas.microsoft.com/office/powerpoint/2010/main" val="4065246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868515-A998-15A6-B461-133B02FCCCCC}"/>
              </a:ext>
            </a:extLst>
          </p:cNvPr>
          <p:cNvSpPr>
            <a:spLocks noGrp="1"/>
          </p:cNvSpPr>
          <p:nvPr>
            <p:ph sz="quarter" idx="13"/>
          </p:nvPr>
        </p:nvSpPr>
        <p:spPr>
          <a:xfrm>
            <a:off x="729136" y="1558684"/>
            <a:ext cx="10363826" cy="3424107"/>
          </a:xfrm>
        </p:spPr>
        <p:txBody>
          <a:bodyPr>
            <a:noAutofit/>
          </a:bodyPr>
          <a:lstStyle/>
          <a:p>
            <a:pPr marL="0" lvl="0" indent="0" algn="just">
              <a:lnSpc>
                <a:spcPct val="150000"/>
              </a:lnSpc>
              <a:spcAft>
                <a:spcPts val="1000"/>
              </a:spcAft>
              <a:buNone/>
            </a:pPr>
            <a:r>
              <a:rPr lang="en-IN" sz="1800" b="1" cap="none" dirty="0">
                <a:effectLst/>
                <a:latin typeface="Cambria" panose="02040503050406030204" pitchFamily="18" charset="0"/>
                <a:ea typeface="Cambria" panose="02040503050406030204" pitchFamily="18" charset="0"/>
                <a:cs typeface="Times New Roman" panose="02020603050405020304" pitchFamily="18" charset="0"/>
              </a:rPr>
              <a:t>Hash Generation:</a:t>
            </a:r>
            <a:endParaRPr lang="en-IN" sz="1800" cap="none" dirty="0">
              <a:effectLst/>
              <a:latin typeface="Cambria" panose="02040503050406030204" pitchFamily="18" charset="0"/>
              <a:ea typeface="Cambria" panose="02040503050406030204" pitchFamily="18" charset="0"/>
              <a:cs typeface="Times New Roman" panose="02020603050405020304" pitchFamily="18" charset="0"/>
            </a:endParaRPr>
          </a:p>
          <a:p>
            <a:pPr indent="0" algn="just">
              <a:lnSpc>
                <a:spcPct val="150000"/>
              </a:lnSpc>
              <a:spcAft>
                <a:spcPts val="1000"/>
              </a:spcAft>
              <a:buNone/>
            </a:pPr>
            <a:r>
              <a:rPr lang="en-IN" sz="1800" cap="none" dirty="0">
                <a:effectLst/>
                <a:latin typeface="Cambria" panose="02040503050406030204" pitchFamily="18" charset="0"/>
                <a:ea typeface="Cambria" panose="02040503050406030204" pitchFamily="18" charset="0"/>
                <a:cs typeface="Times New Roman" panose="02020603050405020304" pitchFamily="18" charset="0"/>
              </a:rPr>
              <a:t>A Hash Algorithm Is A Function That Converts A Data String Into A Numeric String Output Of Fixed Length. The Output String Is Generally Much Smaller Than The Original Data. ... Two Of The Most Common Hash Algorithms Are The Md5 (Message-digest Algorithm 5) And The Sha-1 (Secure Hash Algorithm).</a:t>
            </a:r>
          </a:p>
          <a:p>
            <a:pPr marL="457200" algn="just">
              <a:lnSpc>
                <a:spcPct val="150000"/>
              </a:lnSpc>
              <a:spcAft>
                <a:spcPts val="1000"/>
              </a:spcAft>
            </a:pPr>
            <a:r>
              <a:rPr lang="en-IN" sz="1800" cap="none" dirty="0">
                <a:effectLst/>
                <a:latin typeface="Cambria" panose="02040503050406030204" pitchFamily="18" charset="0"/>
                <a:ea typeface="Cambria" panose="02040503050406030204" pitchFamily="18" charset="0"/>
                <a:cs typeface="Times New Roman" panose="02020603050405020304" pitchFamily="18" charset="0"/>
              </a:rPr>
              <a:t>Hashing Is Used To Index And Retrieve Items In A Database Because It Is Faster To Find The Item Using The Shorter Hashed Key Than To Find It Using The Original Value. It Is Also Used In Many Encryption Algorithms.</a:t>
            </a:r>
          </a:p>
          <a:p>
            <a:endParaRPr lang="en-IN" cap="none"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601906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42FC2A-30BD-A13E-633C-C2C18F70358B}"/>
              </a:ext>
            </a:extLst>
          </p:cNvPr>
          <p:cNvSpPr>
            <a:spLocks noGrp="1"/>
          </p:cNvSpPr>
          <p:nvPr>
            <p:ph sz="quarter" idx="13"/>
          </p:nvPr>
        </p:nvSpPr>
        <p:spPr>
          <a:xfrm>
            <a:off x="914087" y="1918683"/>
            <a:ext cx="10363826" cy="3424107"/>
          </a:xfrm>
        </p:spPr>
        <p:txBody>
          <a:bodyPr>
            <a:normAutofit/>
          </a:bodyPr>
          <a:lstStyle/>
          <a:p>
            <a:pPr marL="0" lvl="0" indent="0">
              <a:lnSpc>
                <a:spcPct val="150000"/>
              </a:lnSpc>
              <a:spcAft>
                <a:spcPts val="1000"/>
              </a:spcAft>
              <a:buNone/>
            </a:pPr>
            <a:r>
              <a:rPr lang="en-IN" b="1" cap="none" dirty="0">
                <a:effectLst/>
                <a:latin typeface="Cambria" panose="02040503050406030204" pitchFamily="18" charset="0"/>
                <a:ea typeface="Cambria" panose="02040503050406030204" pitchFamily="18" charset="0"/>
                <a:cs typeface="Times New Roman" panose="02020603050405020304" pitchFamily="18" charset="0"/>
              </a:rPr>
              <a:t>Sha-256</a:t>
            </a:r>
            <a:endParaRPr lang="en-IN" cap="none" dirty="0">
              <a:effectLst/>
              <a:latin typeface="Cambria" panose="02040503050406030204" pitchFamily="18" charset="0"/>
              <a:ea typeface="Cambria" panose="02040503050406030204" pitchFamily="18" charset="0"/>
              <a:cs typeface="Times New Roman" panose="02020603050405020304" pitchFamily="18" charset="0"/>
            </a:endParaRPr>
          </a:p>
          <a:p>
            <a:r>
              <a:rPr lang="en-IN" cap="none" dirty="0">
                <a:effectLst/>
                <a:latin typeface="Cambria" panose="02040503050406030204" pitchFamily="18" charset="0"/>
                <a:ea typeface="Cambria" panose="02040503050406030204" pitchFamily="18" charset="0"/>
                <a:cs typeface="Times New Roman" panose="02020603050405020304" pitchFamily="18" charset="0"/>
              </a:rPr>
              <a:t>With The Birth Of </a:t>
            </a:r>
            <a:r>
              <a:rPr lang="en-IN" cap="none" dirty="0" err="1">
                <a:effectLst/>
                <a:latin typeface="Cambria" panose="02040503050406030204" pitchFamily="18" charset="0"/>
                <a:ea typeface="Cambria" panose="02040503050406030204" pitchFamily="18" charset="0"/>
                <a:cs typeface="Times New Roman" panose="02020603050405020304" pitchFamily="18" charset="0"/>
              </a:rPr>
              <a:t>Bitcoin</a:t>
            </a:r>
            <a:r>
              <a:rPr lang="en-IN" cap="none" dirty="0">
                <a:effectLst/>
                <a:latin typeface="Cambria" panose="02040503050406030204" pitchFamily="18" charset="0"/>
                <a:ea typeface="Cambria" panose="02040503050406030204" pitchFamily="18" charset="0"/>
                <a:cs typeface="Times New Roman" panose="02020603050405020304" pitchFamily="18" charset="0"/>
              </a:rPr>
              <a:t>, SHA-256 Became The First Mining Algorithm Used In Technology Blockchain. This Is A Powerful Hash Function. It Serves Multiple Purposes Within </a:t>
            </a:r>
            <a:r>
              <a:rPr lang="en-IN" cap="none" dirty="0" err="1">
                <a:effectLst/>
                <a:latin typeface="Cambria" panose="02040503050406030204" pitchFamily="18" charset="0"/>
                <a:ea typeface="Cambria" panose="02040503050406030204" pitchFamily="18" charset="0"/>
                <a:cs typeface="Times New Roman" panose="02020603050405020304" pitchFamily="18" charset="0"/>
              </a:rPr>
              <a:t>Bitcoin</a:t>
            </a:r>
            <a:r>
              <a:rPr lang="en-IN" cap="none" dirty="0">
                <a:effectLst/>
                <a:latin typeface="Cambria" panose="02040503050406030204" pitchFamily="18" charset="0"/>
                <a:ea typeface="Cambria" panose="02040503050406030204" pitchFamily="18" charset="0"/>
                <a:cs typeface="Times New Roman" panose="02020603050405020304" pitchFamily="18" charset="0"/>
              </a:rPr>
              <a:t> And Virtually All Existing </a:t>
            </a:r>
            <a:r>
              <a:rPr lang="en-IN" cap="none" dirty="0" err="1">
                <a:effectLst/>
                <a:latin typeface="Cambria" panose="02040503050406030204" pitchFamily="18" charset="0"/>
                <a:ea typeface="Cambria" panose="02040503050406030204" pitchFamily="18" charset="0"/>
                <a:cs typeface="Times New Roman" panose="02020603050405020304" pitchFamily="18" charset="0"/>
              </a:rPr>
              <a:t>Cryptocurrencies</a:t>
            </a:r>
            <a:r>
              <a:rPr lang="en-IN" cap="none" dirty="0">
                <a:effectLst/>
                <a:latin typeface="Cambria" panose="02040503050406030204" pitchFamily="18" charset="0"/>
                <a:ea typeface="Cambria" panose="02040503050406030204" pitchFamily="18" charset="0"/>
                <a:cs typeface="Times New Roman" panose="02020603050405020304" pitchFamily="18" charset="0"/>
              </a:rPr>
              <a:t>. From Ensuring The </a:t>
            </a:r>
            <a:endParaRPr lang="en-IN" sz="2400" cap="none"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3023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FAFECD-285C-F7A5-2345-F342EA3A3B5A}"/>
              </a:ext>
            </a:extLst>
          </p:cNvPr>
          <p:cNvSpPr>
            <a:spLocks noGrp="1"/>
          </p:cNvSpPr>
          <p:nvPr>
            <p:ph sz="quarter" idx="13"/>
          </p:nvPr>
        </p:nvSpPr>
        <p:spPr>
          <a:xfrm>
            <a:off x="720344" y="1523031"/>
            <a:ext cx="10363826" cy="3424107"/>
          </a:xfrm>
        </p:spPr>
        <p:txBody>
          <a:bodyPr>
            <a:normAutofit/>
          </a:bodyPr>
          <a:lstStyle/>
          <a:p>
            <a:pPr marL="0" lvl="0" indent="0" algn="just">
              <a:lnSpc>
                <a:spcPct val="150000"/>
              </a:lnSpc>
              <a:spcAft>
                <a:spcPts val="1000"/>
              </a:spcAft>
              <a:buNone/>
            </a:pPr>
            <a:r>
              <a:rPr lang="en-IN" b="1" cap="none" dirty="0">
                <a:effectLst/>
                <a:latin typeface="Cambria" panose="02040503050406030204" pitchFamily="18" charset="0"/>
                <a:ea typeface="Cambria" panose="02040503050406030204" pitchFamily="18" charset="0"/>
                <a:cs typeface="Times New Roman" panose="02020603050405020304" pitchFamily="18" charset="0"/>
              </a:rPr>
              <a:t>Protocol For Peer Verification:</a:t>
            </a:r>
            <a:endParaRPr lang="en-IN" cap="none" dirty="0">
              <a:effectLst/>
              <a:latin typeface="Cambria" panose="02040503050406030204" pitchFamily="18" charset="0"/>
              <a:ea typeface="Cambria" panose="02040503050406030204" pitchFamily="18" charset="0"/>
              <a:cs typeface="Times New Roman" panose="02020603050405020304" pitchFamily="18" charset="0"/>
            </a:endParaRPr>
          </a:p>
          <a:p>
            <a:pPr indent="0" algn="just">
              <a:lnSpc>
                <a:spcPct val="150000"/>
              </a:lnSpc>
              <a:spcAft>
                <a:spcPts val="1000"/>
              </a:spcAft>
              <a:buNone/>
            </a:pPr>
            <a:r>
              <a:rPr lang="en-IN" cap="none" dirty="0">
                <a:effectLst/>
                <a:latin typeface="Cambria" panose="02040503050406030204" pitchFamily="18" charset="0"/>
                <a:ea typeface="Cambria" panose="02040503050406030204" pitchFamily="18" charset="0"/>
                <a:cs typeface="Times New Roman" panose="02020603050405020304" pitchFamily="18" charset="0"/>
              </a:rPr>
              <a:t>All Peers On A Blockchain Network Reach A Consensus To Verify Transactions. This Consensus Is Governed By An Algorithm Fed Into The Protocol Layer Of The Blockchain. The Blockchain Gives All Peers An Identical Copy Of Each Transaction Which Eliminates Trust Thus Making A </a:t>
            </a:r>
            <a:r>
              <a:rPr lang="en-IN" cap="none" dirty="0" err="1">
                <a:effectLst/>
                <a:latin typeface="Cambria" panose="02040503050406030204" pitchFamily="18" charset="0"/>
                <a:ea typeface="Cambria" panose="02040503050406030204" pitchFamily="18" charset="0"/>
                <a:cs typeface="Times New Roman" panose="02020603050405020304" pitchFamily="18" charset="0"/>
              </a:rPr>
              <a:t>Trustless</a:t>
            </a:r>
            <a:r>
              <a:rPr lang="en-IN" cap="none" dirty="0">
                <a:effectLst/>
                <a:latin typeface="Cambria" panose="02040503050406030204" pitchFamily="18" charset="0"/>
                <a:ea typeface="Cambria" panose="02040503050406030204" pitchFamily="18" charset="0"/>
                <a:cs typeface="Times New Roman" panose="02020603050405020304" pitchFamily="18" charset="0"/>
              </a:rPr>
              <a:t>, Distributed Network.</a:t>
            </a:r>
          </a:p>
          <a:p>
            <a:endParaRPr lang="en-IN" sz="2400" cap="none"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99914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ADAEFA-AE2B-DB29-B930-8BB9C20E1D04}"/>
              </a:ext>
            </a:extLst>
          </p:cNvPr>
          <p:cNvSpPr>
            <a:spLocks noGrp="1"/>
          </p:cNvSpPr>
          <p:nvPr>
            <p:ph sz="quarter" idx="13"/>
          </p:nvPr>
        </p:nvSpPr>
        <p:spPr>
          <a:xfrm>
            <a:off x="834643" y="1654915"/>
            <a:ext cx="10363826" cy="3424107"/>
          </a:xfrm>
        </p:spPr>
        <p:txBody>
          <a:bodyPr>
            <a:noAutofit/>
          </a:bodyPr>
          <a:lstStyle/>
          <a:p>
            <a:pPr marL="0" lvl="0" indent="0" algn="just">
              <a:lnSpc>
                <a:spcPct val="150000"/>
              </a:lnSpc>
              <a:spcAft>
                <a:spcPts val="1000"/>
              </a:spcAft>
              <a:buNone/>
            </a:pPr>
            <a:r>
              <a:rPr lang="en-IN" sz="1800" b="1" cap="none" dirty="0">
                <a:effectLst/>
                <a:latin typeface="Cambria" panose="02040503050406030204" pitchFamily="18" charset="0"/>
                <a:ea typeface="Cambria" panose="02040503050406030204" pitchFamily="18" charset="0"/>
                <a:cs typeface="Times New Roman" panose="02020603050405020304" pitchFamily="18" charset="0"/>
              </a:rPr>
              <a:t>Mining Algorithm For Valid Hash Creation: </a:t>
            </a:r>
            <a:endParaRPr lang="en-IN" sz="1800" cap="none" dirty="0">
              <a:effectLst/>
              <a:latin typeface="Cambria" panose="02040503050406030204" pitchFamily="18" charset="0"/>
              <a:ea typeface="Cambria" panose="02040503050406030204" pitchFamily="18" charset="0"/>
              <a:cs typeface="Times New Roman" panose="02020603050405020304" pitchFamily="18" charset="0"/>
            </a:endParaRPr>
          </a:p>
          <a:p>
            <a:pPr indent="0" algn="just">
              <a:lnSpc>
                <a:spcPct val="150000"/>
              </a:lnSpc>
              <a:spcAft>
                <a:spcPts val="1000"/>
              </a:spcAft>
              <a:buNone/>
            </a:pPr>
            <a:r>
              <a:rPr lang="en-IN" sz="1800" cap="none" dirty="0">
                <a:effectLst/>
                <a:latin typeface="Cambria" panose="02040503050406030204" pitchFamily="18" charset="0"/>
                <a:ea typeface="Cambria" panose="02040503050406030204" pitchFamily="18" charset="0"/>
                <a:cs typeface="Times New Roman" panose="02020603050405020304" pitchFamily="18" charset="0"/>
              </a:rPr>
              <a:t>Mining Algorithms Are The Algorithms Or Functions That Make The Task Of Mining Crypto-currencies Possible. </a:t>
            </a:r>
          </a:p>
          <a:p>
            <a:pPr marL="457200" algn="just">
              <a:lnSpc>
                <a:spcPct val="150000"/>
              </a:lnSpc>
              <a:spcAft>
                <a:spcPts val="1000"/>
              </a:spcAft>
            </a:pPr>
            <a:r>
              <a:rPr lang="en-IN" sz="1800" cap="none" dirty="0">
                <a:effectLst/>
                <a:latin typeface="Cambria" panose="02040503050406030204" pitchFamily="18" charset="0"/>
                <a:ea typeface="Cambria" panose="02040503050406030204" pitchFamily="18" charset="0"/>
                <a:cs typeface="Times New Roman" panose="02020603050405020304" pitchFamily="18" charset="0"/>
              </a:rPr>
              <a:t>Mining Algorithms Are The Algorithms In Charge Of Making Possible The </a:t>
            </a:r>
            <a:r>
              <a:rPr lang="en-IN" sz="1800" cap="none" dirty="0" err="1">
                <a:effectLst/>
                <a:latin typeface="Cambria" panose="02040503050406030204" pitchFamily="18" charset="0"/>
                <a:ea typeface="Cambria" panose="02040503050406030204" pitchFamily="18" charset="0"/>
                <a:cs typeface="Times New Roman" panose="02020603050405020304" pitchFamily="18" charset="0"/>
              </a:rPr>
              <a:t>Cryptocurrency</a:t>
            </a:r>
            <a:r>
              <a:rPr lang="en-IN" sz="1800" cap="none" dirty="0">
                <a:effectLst/>
                <a:latin typeface="Cambria" panose="02040503050406030204" pitchFamily="18" charset="0"/>
                <a:ea typeface="Cambria" panose="02040503050406030204" pitchFamily="18" charset="0"/>
                <a:cs typeface="Times New Roman" panose="02020603050405020304" pitchFamily="18" charset="0"/>
              </a:rPr>
              <a:t> Mining. Normally These Algorithms Are Cryptographic Hash Functions Very Complex And They Can Adjust The Mining Difficulty. A Process That Makes It More Or Less Difficult For You To Put Together The Puzzles That Must Be Solved By The Miners. This Is To Get Miners To Do Complex Computational Work That, Once Solved, Allows Them To Access A Reward For That Work.</a:t>
            </a:r>
          </a:p>
          <a:p>
            <a:endParaRPr lang="en-IN" cap="none"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746020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465146"/>
            <a:ext cx="10364451" cy="885817"/>
          </a:xfrm>
        </p:spPr>
        <p:txBody>
          <a:bodyPr/>
          <a:lstStyle/>
          <a:p>
            <a:r>
              <a:rPr lang="en-US" b="1" dirty="0">
                <a:latin typeface="Calibri" panose="020F0502020204030204" pitchFamily="34" charset="0"/>
                <a:cs typeface="Calibri" panose="020F0502020204030204" pitchFamily="34" charset="0"/>
              </a:rPr>
              <a:t>Design of the system</a:t>
            </a:r>
          </a:p>
        </p:txBody>
      </p:sp>
      <p:sp>
        <p:nvSpPr>
          <p:cNvPr id="3" name="Content Placeholder 2"/>
          <p:cNvSpPr>
            <a:spLocks noGrp="1"/>
          </p:cNvSpPr>
          <p:nvPr>
            <p:ph sz="quarter" idx="13"/>
          </p:nvPr>
        </p:nvSpPr>
        <p:spPr>
          <a:xfrm>
            <a:off x="387647" y="1655763"/>
            <a:ext cx="3185425" cy="534573"/>
          </a:xfrm>
        </p:spPr>
        <p:txBody>
          <a:bodyPr>
            <a:normAutofit/>
          </a:bodyPr>
          <a:lstStyle/>
          <a:p>
            <a:pPr lvl="0" algn="just"/>
            <a:r>
              <a:rPr lang="en-US" b="1" cap="none" dirty="0">
                <a:latin typeface="Calibri" panose="020F0502020204030204" pitchFamily="34" charset="0"/>
                <a:cs typeface="Calibri" panose="020F0502020204030204" pitchFamily="34" charset="0"/>
              </a:rPr>
              <a:t>State Transition Diagram:</a:t>
            </a:r>
          </a:p>
        </p:txBody>
      </p:sp>
      <p:pic>
        <p:nvPicPr>
          <p:cNvPr id="1026" name="Picture 2" descr="D:\A DATA\Team 2020\102 Rutuja Kasar$\UML\Stat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8762" y="1350962"/>
            <a:ext cx="4868863" cy="5507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06413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7"/>
            <a:ext cx="10364451" cy="1265701"/>
          </a:xfrm>
        </p:spPr>
        <p:txBody>
          <a:bodyPr/>
          <a:lstStyle/>
          <a:p>
            <a:r>
              <a:rPr lang="en-US" b="1" dirty="0">
                <a:latin typeface="Calibri" panose="020F0502020204030204" pitchFamily="34" charset="0"/>
                <a:cs typeface="Calibri" panose="020F0502020204030204" pitchFamily="34" charset="0"/>
              </a:rPr>
              <a:t>Design of the system</a:t>
            </a:r>
          </a:p>
        </p:txBody>
      </p:sp>
      <p:sp>
        <p:nvSpPr>
          <p:cNvPr id="3" name="Content Placeholder 2"/>
          <p:cNvSpPr>
            <a:spLocks noGrp="1"/>
          </p:cNvSpPr>
          <p:nvPr>
            <p:ph sz="quarter" idx="13"/>
          </p:nvPr>
        </p:nvSpPr>
        <p:spPr>
          <a:xfrm>
            <a:off x="604910" y="1856935"/>
            <a:ext cx="2926082" cy="534573"/>
          </a:xfrm>
        </p:spPr>
        <p:txBody>
          <a:bodyPr>
            <a:normAutofit/>
          </a:bodyPr>
          <a:lstStyle/>
          <a:p>
            <a:pPr lvl="0" algn="just"/>
            <a:r>
              <a:rPr lang="en-US" b="1" cap="none" dirty="0">
                <a:latin typeface="Calibri" panose="020F0502020204030204" pitchFamily="34" charset="0"/>
                <a:cs typeface="Calibri" panose="020F0502020204030204" pitchFamily="34" charset="0"/>
              </a:rPr>
              <a:t>Sequence Diagram:</a:t>
            </a:r>
          </a:p>
        </p:txBody>
      </p:sp>
      <p:pic>
        <p:nvPicPr>
          <p:cNvPr id="3074" name="Picture 2" descr="K:\DATA\TechM 2020\102 Rutuja Kasar\102 Latex Report Sem I\Sequence.png"/>
          <p:cNvPicPr>
            <a:picLocks noChangeAspect="1" noChangeArrowheads="1"/>
          </p:cNvPicPr>
          <p:nvPr/>
        </p:nvPicPr>
        <p:blipFill>
          <a:blip r:embed="rId2"/>
          <a:srcRect/>
          <a:stretch>
            <a:fillRect/>
          </a:stretch>
        </p:blipFill>
        <p:spPr bwMode="auto">
          <a:xfrm>
            <a:off x="3416218" y="1785170"/>
            <a:ext cx="5945187" cy="4895850"/>
          </a:xfrm>
          <a:prstGeom prst="rect">
            <a:avLst/>
          </a:prstGeom>
          <a:noFill/>
        </p:spPr>
      </p:pic>
    </p:spTree>
    <p:extLst>
      <p:ext uri="{BB962C8B-B14F-4D97-AF65-F5344CB8AC3E}">
        <p14:creationId xmlns:p14="http://schemas.microsoft.com/office/powerpoint/2010/main" val="8906413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7"/>
            <a:ext cx="10364451" cy="1265701"/>
          </a:xfrm>
        </p:spPr>
        <p:txBody>
          <a:bodyPr/>
          <a:lstStyle/>
          <a:p>
            <a:r>
              <a:rPr lang="en-US" b="1" dirty="0">
                <a:latin typeface="Calibri" panose="020F0502020204030204" pitchFamily="34" charset="0"/>
                <a:cs typeface="Calibri" panose="020F0502020204030204" pitchFamily="34" charset="0"/>
              </a:rPr>
              <a:t>Design of the system</a:t>
            </a:r>
          </a:p>
        </p:txBody>
      </p:sp>
      <p:sp>
        <p:nvSpPr>
          <p:cNvPr id="3" name="Content Placeholder 2"/>
          <p:cNvSpPr>
            <a:spLocks noGrp="1"/>
          </p:cNvSpPr>
          <p:nvPr>
            <p:ph sz="quarter" idx="13"/>
          </p:nvPr>
        </p:nvSpPr>
        <p:spPr>
          <a:xfrm>
            <a:off x="604910" y="1856935"/>
            <a:ext cx="2926082" cy="534573"/>
          </a:xfrm>
        </p:spPr>
        <p:txBody>
          <a:bodyPr>
            <a:normAutofit/>
          </a:bodyPr>
          <a:lstStyle/>
          <a:p>
            <a:pPr lvl="0" algn="just"/>
            <a:r>
              <a:rPr lang="en-US" b="1" cap="none" dirty="0">
                <a:latin typeface="Calibri" panose="020F0502020204030204" pitchFamily="34" charset="0"/>
                <a:cs typeface="Calibri" panose="020F0502020204030204" pitchFamily="34" charset="0"/>
              </a:rPr>
              <a:t>Class Diagram:</a:t>
            </a:r>
          </a:p>
        </p:txBody>
      </p:sp>
      <p:pic>
        <p:nvPicPr>
          <p:cNvPr id="1027" name="Picture 3" descr="D:\A DATA\Team 2024\M2410 Nitin Aher\UML Diagrams\Clas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575" y="2119620"/>
            <a:ext cx="6586543" cy="3352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6079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7"/>
            <a:ext cx="10364451" cy="1265701"/>
          </a:xfrm>
        </p:spPr>
        <p:txBody>
          <a:bodyPr/>
          <a:lstStyle/>
          <a:p>
            <a:r>
              <a:rPr lang="en-US" b="1" dirty="0">
                <a:latin typeface="Calibri" panose="020F0502020204030204" pitchFamily="34" charset="0"/>
                <a:cs typeface="Calibri" panose="020F0502020204030204" pitchFamily="34" charset="0"/>
              </a:rPr>
              <a:t>Design of the system</a:t>
            </a:r>
          </a:p>
        </p:txBody>
      </p:sp>
      <p:sp>
        <p:nvSpPr>
          <p:cNvPr id="3" name="Content Placeholder 2"/>
          <p:cNvSpPr>
            <a:spLocks noGrp="1"/>
          </p:cNvSpPr>
          <p:nvPr>
            <p:ph sz="quarter" idx="13"/>
          </p:nvPr>
        </p:nvSpPr>
        <p:spPr>
          <a:xfrm>
            <a:off x="604910" y="1856935"/>
            <a:ext cx="2926082" cy="534573"/>
          </a:xfrm>
        </p:spPr>
        <p:txBody>
          <a:bodyPr>
            <a:normAutofit/>
          </a:bodyPr>
          <a:lstStyle/>
          <a:p>
            <a:pPr lvl="0" algn="just"/>
            <a:r>
              <a:rPr lang="en-US" b="1" cap="none" dirty="0">
                <a:latin typeface="Calibri" panose="020F0502020204030204" pitchFamily="34" charset="0"/>
                <a:cs typeface="Calibri" panose="020F0502020204030204" pitchFamily="34" charset="0"/>
              </a:rPr>
              <a:t>Use Case Diagram:</a:t>
            </a:r>
          </a:p>
        </p:txBody>
      </p:sp>
      <p:pic>
        <p:nvPicPr>
          <p:cNvPr id="1026" name="Picture 2" descr="D:\A DATA\Team 2024\M2410 Nitin Aher\UML Diagrams\UseCasePharm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5070" y="1548580"/>
            <a:ext cx="5302356" cy="53094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34553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7"/>
            <a:ext cx="10364451" cy="1180539"/>
          </a:xfrm>
        </p:spPr>
        <p:txBody>
          <a:bodyPr/>
          <a:lstStyle/>
          <a:p>
            <a:r>
              <a:rPr lang="en-US" b="1" dirty="0">
                <a:latin typeface="Calibri" panose="020F0502020204030204" pitchFamily="34" charset="0"/>
                <a:cs typeface="Calibri" panose="020F0502020204030204" pitchFamily="34" charset="0"/>
              </a:rPr>
              <a:t>Conclusion</a:t>
            </a:r>
          </a:p>
        </p:txBody>
      </p:sp>
      <p:sp>
        <p:nvSpPr>
          <p:cNvPr id="3" name="Content Placeholder 2"/>
          <p:cNvSpPr>
            <a:spLocks noGrp="1"/>
          </p:cNvSpPr>
          <p:nvPr>
            <p:ph sz="quarter" idx="13"/>
          </p:nvPr>
        </p:nvSpPr>
        <p:spPr>
          <a:xfrm>
            <a:off x="688705" y="1668803"/>
            <a:ext cx="10751753" cy="4894230"/>
          </a:xfrm>
        </p:spPr>
        <p:txBody>
          <a:bodyPr>
            <a:noAutofit/>
          </a:bodyPr>
          <a:lstStyle/>
          <a:p>
            <a:pPr algn="just"/>
            <a:r>
              <a:rPr lang="en-US" sz="2200" cap="none" dirty="0">
                <a:latin typeface="Cambria" pitchFamily="18" charset="0"/>
                <a:ea typeface="Cambria" pitchFamily="18" charset="0"/>
                <a:cs typeface="Calibri" panose="020F0502020204030204" pitchFamily="34" charset="0"/>
              </a:rPr>
              <a:t>In conclusion, the implementation of a Pharma and Counterfeit Drug Prevention Supply Chain and Smart Contracts System using blockchain technology offers a powerful solution to combat the growing threat of counterfeit drugs. </a:t>
            </a:r>
          </a:p>
          <a:p>
            <a:pPr algn="just"/>
            <a:r>
              <a:rPr lang="en-US" sz="2200" cap="none" dirty="0">
                <a:latin typeface="Cambria" pitchFamily="18" charset="0"/>
                <a:ea typeface="Cambria" pitchFamily="18" charset="0"/>
                <a:cs typeface="Calibri" panose="020F0502020204030204" pitchFamily="34" charset="0"/>
              </a:rPr>
              <a:t>By ensuring transparency, security, and traceability throughout the pharmaceutical supply chain, this system not only protects patient safety but also fosters trust among stakeholders. </a:t>
            </a:r>
          </a:p>
          <a:p>
            <a:pPr algn="just"/>
            <a:r>
              <a:rPr lang="en-US" sz="2200" cap="none" dirty="0">
                <a:latin typeface="Cambria" pitchFamily="18" charset="0"/>
                <a:ea typeface="Cambria" pitchFamily="18" charset="0"/>
                <a:cs typeface="Calibri" panose="020F0502020204030204" pitchFamily="34" charset="0"/>
              </a:rPr>
              <a:t>The use of smart contracts automates and enforces compliance, further enhancing the reliability of drug distribution. </a:t>
            </a:r>
          </a:p>
          <a:p>
            <a:pPr algn="just"/>
            <a:r>
              <a:rPr lang="en-US" sz="2200" cap="none" dirty="0">
                <a:latin typeface="Cambria" pitchFamily="18" charset="0"/>
                <a:ea typeface="Cambria" pitchFamily="18" charset="0"/>
                <a:cs typeface="Calibri" panose="020F0502020204030204" pitchFamily="34" charset="0"/>
              </a:rPr>
              <a:t>Ultimately, this project aims to create a safer healthcare environment, reducing the risks associated with counterfeit medications and improving overall public health outcomes.</a:t>
            </a:r>
          </a:p>
        </p:txBody>
      </p:sp>
    </p:spTree>
    <p:extLst>
      <p:ext uri="{BB962C8B-B14F-4D97-AF65-F5344CB8AC3E}">
        <p14:creationId xmlns:p14="http://schemas.microsoft.com/office/powerpoint/2010/main" val="18183773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524" y="382544"/>
            <a:ext cx="10364451" cy="891628"/>
          </a:xfrm>
        </p:spPr>
        <p:txBody>
          <a:bodyPr/>
          <a:lstStyle/>
          <a:p>
            <a:r>
              <a:rPr lang="en-US" b="1" dirty="0">
                <a:latin typeface="Calibri" panose="020F0502020204030204" pitchFamily="34" charset="0"/>
                <a:cs typeface="Calibri" panose="020F0502020204030204" pitchFamily="34" charset="0"/>
              </a:rPr>
              <a:t>References</a:t>
            </a:r>
          </a:p>
        </p:txBody>
      </p:sp>
      <p:sp>
        <p:nvSpPr>
          <p:cNvPr id="3" name="Content Placeholder 2"/>
          <p:cNvSpPr>
            <a:spLocks noGrp="1"/>
          </p:cNvSpPr>
          <p:nvPr>
            <p:ph sz="quarter" idx="13"/>
          </p:nvPr>
        </p:nvSpPr>
        <p:spPr>
          <a:xfrm>
            <a:off x="377649" y="1229479"/>
            <a:ext cx="11526981" cy="5628522"/>
          </a:xfrm>
        </p:spPr>
        <p:txBody>
          <a:bodyPr>
            <a:noAutofit/>
          </a:bodyPr>
          <a:lstStyle/>
          <a:p>
            <a:pPr marL="354013" indent="-354013" algn="just">
              <a:buNone/>
            </a:pPr>
            <a:r>
              <a:rPr lang="en-US" cap="none" dirty="0">
                <a:latin typeface="Calibri" panose="020F0502020204030204" pitchFamily="34" charset="0"/>
                <a:cs typeface="Calibri" panose="020F0502020204030204" pitchFamily="34" charset="0"/>
              </a:rPr>
              <a:t>[1]	Crosby, M., </a:t>
            </a:r>
            <a:r>
              <a:rPr lang="en-US" cap="none" dirty="0" err="1">
                <a:latin typeface="Calibri" panose="020F0502020204030204" pitchFamily="34" charset="0"/>
                <a:cs typeface="Calibri" panose="020F0502020204030204" pitchFamily="34" charset="0"/>
              </a:rPr>
              <a:t>Pattanayak</a:t>
            </a:r>
            <a:r>
              <a:rPr lang="en-US" cap="none" dirty="0">
                <a:latin typeface="Calibri" panose="020F0502020204030204" pitchFamily="34" charset="0"/>
                <a:cs typeface="Calibri" panose="020F0502020204030204" pitchFamily="34" charset="0"/>
              </a:rPr>
              <a:t>, P., </a:t>
            </a:r>
            <a:r>
              <a:rPr lang="en-US" cap="none" dirty="0" err="1">
                <a:latin typeface="Calibri" panose="020F0502020204030204" pitchFamily="34" charset="0"/>
                <a:cs typeface="Calibri" panose="020F0502020204030204" pitchFamily="34" charset="0"/>
              </a:rPr>
              <a:t>Verma</a:t>
            </a:r>
            <a:r>
              <a:rPr lang="en-US" cap="none" dirty="0">
                <a:latin typeface="Calibri" panose="020F0502020204030204" pitchFamily="34" charset="0"/>
                <a:cs typeface="Calibri" panose="020F0502020204030204" pitchFamily="34" charset="0"/>
              </a:rPr>
              <a:t>, S., &amp; </a:t>
            </a:r>
            <a:r>
              <a:rPr lang="en-US" cap="none" dirty="0" err="1">
                <a:latin typeface="Calibri" panose="020F0502020204030204" pitchFamily="34" charset="0"/>
                <a:cs typeface="Calibri" panose="020F0502020204030204" pitchFamily="34" charset="0"/>
              </a:rPr>
              <a:t>Kalyanaraman</a:t>
            </a:r>
            <a:r>
              <a:rPr lang="en-US" cap="none" dirty="0">
                <a:latin typeface="Calibri" panose="020F0502020204030204" pitchFamily="34" charset="0"/>
                <a:cs typeface="Calibri" panose="020F0502020204030204" pitchFamily="34" charset="0"/>
              </a:rPr>
              <a:t>, V. (2016). Blockchain technology: Beyond </a:t>
            </a:r>
            <a:r>
              <a:rPr lang="en-US" cap="none" dirty="0" err="1">
                <a:latin typeface="Calibri" panose="020F0502020204030204" pitchFamily="34" charset="0"/>
                <a:cs typeface="Calibri" panose="020F0502020204030204" pitchFamily="34" charset="0"/>
              </a:rPr>
              <a:t>bitcoin</a:t>
            </a:r>
            <a:r>
              <a:rPr lang="en-US" cap="none" dirty="0">
                <a:latin typeface="Calibri" panose="020F0502020204030204" pitchFamily="34" charset="0"/>
                <a:cs typeface="Calibri" panose="020F0502020204030204" pitchFamily="34" charset="0"/>
              </a:rPr>
              <a:t>. Applied Innovation Review, 2(6), 71-77. </a:t>
            </a:r>
          </a:p>
          <a:p>
            <a:pPr marL="354013" indent="-354013" algn="just">
              <a:buNone/>
            </a:pPr>
            <a:r>
              <a:rPr lang="en-US" cap="none" dirty="0">
                <a:latin typeface="Calibri" panose="020F0502020204030204" pitchFamily="34" charset="0"/>
                <a:cs typeface="Calibri" panose="020F0502020204030204" pitchFamily="34" charset="0"/>
              </a:rPr>
              <a:t>[2]	</a:t>
            </a:r>
            <a:r>
              <a:rPr lang="en-US" cap="none" dirty="0" err="1">
                <a:latin typeface="Calibri" panose="020F0502020204030204" pitchFamily="34" charset="0"/>
                <a:cs typeface="Calibri" panose="020F0502020204030204" pitchFamily="34" charset="0"/>
              </a:rPr>
              <a:t>Christidis</a:t>
            </a:r>
            <a:r>
              <a:rPr lang="en-US" cap="none" dirty="0">
                <a:latin typeface="Calibri" panose="020F0502020204030204" pitchFamily="34" charset="0"/>
                <a:cs typeface="Calibri" panose="020F0502020204030204" pitchFamily="34" charset="0"/>
              </a:rPr>
              <a:t>, K., &amp; </a:t>
            </a:r>
            <a:r>
              <a:rPr lang="en-US" cap="none" dirty="0" err="1">
                <a:latin typeface="Calibri" panose="020F0502020204030204" pitchFamily="34" charset="0"/>
                <a:cs typeface="Calibri" panose="020F0502020204030204" pitchFamily="34" charset="0"/>
              </a:rPr>
              <a:t>Devetsikiotis</a:t>
            </a:r>
            <a:r>
              <a:rPr lang="en-US" cap="none" dirty="0">
                <a:latin typeface="Calibri" panose="020F0502020204030204" pitchFamily="34" charset="0"/>
                <a:cs typeface="Calibri" panose="020F0502020204030204" pitchFamily="34" charset="0"/>
              </a:rPr>
              <a:t>, M. (2016). </a:t>
            </a:r>
            <a:r>
              <a:rPr lang="en-US" cap="none" dirty="0" err="1">
                <a:latin typeface="Calibri" panose="020F0502020204030204" pitchFamily="34" charset="0"/>
                <a:cs typeface="Calibri" panose="020F0502020204030204" pitchFamily="34" charset="0"/>
              </a:rPr>
              <a:t>Blockchains</a:t>
            </a:r>
            <a:r>
              <a:rPr lang="en-US" cap="none" dirty="0">
                <a:latin typeface="Calibri" panose="020F0502020204030204" pitchFamily="34" charset="0"/>
                <a:cs typeface="Calibri" panose="020F0502020204030204" pitchFamily="34" charset="0"/>
              </a:rPr>
              <a:t> and smart contracts for the internet of things. IEEE Access, 4, 2292-2303. </a:t>
            </a:r>
          </a:p>
          <a:p>
            <a:pPr marL="354013" indent="-354013" algn="just">
              <a:buNone/>
            </a:pPr>
            <a:r>
              <a:rPr lang="en-US" cap="none" dirty="0">
                <a:latin typeface="Calibri" panose="020F0502020204030204" pitchFamily="34" charset="0"/>
                <a:cs typeface="Calibri" panose="020F0502020204030204" pitchFamily="34" charset="0"/>
              </a:rPr>
              <a:t>[3]	</a:t>
            </a:r>
            <a:r>
              <a:rPr lang="en-US" cap="none" dirty="0" err="1">
                <a:latin typeface="Calibri" panose="020F0502020204030204" pitchFamily="34" charset="0"/>
                <a:cs typeface="Calibri" panose="020F0502020204030204" pitchFamily="34" charset="0"/>
              </a:rPr>
              <a:t>Kshetri</a:t>
            </a:r>
            <a:r>
              <a:rPr lang="en-US" cap="none" dirty="0">
                <a:latin typeface="Calibri" panose="020F0502020204030204" pitchFamily="34" charset="0"/>
                <a:cs typeface="Calibri" panose="020F0502020204030204" pitchFamily="34" charset="0"/>
              </a:rPr>
              <a:t>, N. (2018). 1 Blockchain's roles in meeting key supply chain management objectives. International Journal of Information Management, 39, 80-89. </a:t>
            </a:r>
          </a:p>
          <a:p>
            <a:pPr marL="354013" indent="-354013" algn="just">
              <a:buNone/>
            </a:pPr>
            <a:r>
              <a:rPr lang="en-US" cap="none" dirty="0">
                <a:latin typeface="Calibri" panose="020F0502020204030204" pitchFamily="34" charset="0"/>
                <a:cs typeface="Calibri" panose="020F0502020204030204" pitchFamily="34" charset="0"/>
              </a:rPr>
              <a:t>[4]	</a:t>
            </a:r>
            <a:r>
              <a:rPr lang="en-US" cap="none" dirty="0" err="1">
                <a:latin typeface="Calibri" panose="020F0502020204030204" pitchFamily="34" charset="0"/>
                <a:cs typeface="Calibri" panose="020F0502020204030204" pitchFamily="34" charset="0"/>
              </a:rPr>
              <a:t>Zheng</a:t>
            </a:r>
            <a:r>
              <a:rPr lang="en-US" cap="none" dirty="0">
                <a:latin typeface="Calibri" panose="020F0502020204030204" pitchFamily="34" charset="0"/>
                <a:cs typeface="Calibri" panose="020F0502020204030204" pitchFamily="34" charset="0"/>
              </a:rPr>
              <a:t>, Z., </a:t>
            </a:r>
            <a:r>
              <a:rPr lang="en-US" cap="none" dirty="0" err="1">
                <a:latin typeface="Calibri" panose="020F0502020204030204" pitchFamily="34" charset="0"/>
                <a:cs typeface="Calibri" panose="020F0502020204030204" pitchFamily="34" charset="0"/>
              </a:rPr>
              <a:t>Xie</a:t>
            </a:r>
            <a:r>
              <a:rPr lang="en-US" cap="none" dirty="0">
                <a:latin typeface="Calibri" panose="020F0502020204030204" pitchFamily="34" charset="0"/>
                <a:cs typeface="Calibri" panose="020F0502020204030204" pitchFamily="34" charset="0"/>
              </a:rPr>
              <a:t>, S., Dai, H. N., Chen, X., &amp; Wang, H. (2018). An overview of blockchain technology: Architecture, consensus, and future trends. IEEE Transactions on Emerging Topics in Computing, 7(1), 1-16. </a:t>
            </a:r>
          </a:p>
          <a:p>
            <a:pPr marL="354013" indent="-354013" algn="just">
              <a:buNone/>
            </a:pPr>
            <a:r>
              <a:rPr lang="en-US" cap="none" dirty="0">
                <a:latin typeface="Calibri" panose="020F0502020204030204" pitchFamily="34" charset="0"/>
                <a:cs typeface="Calibri" panose="020F0502020204030204" pitchFamily="34" charset="0"/>
              </a:rPr>
              <a:t>[5]	Peters, G. W., &amp; </a:t>
            </a:r>
            <a:r>
              <a:rPr lang="en-US" cap="none" dirty="0" err="1">
                <a:latin typeface="Calibri" panose="020F0502020204030204" pitchFamily="34" charset="0"/>
                <a:cs typeface="Calibri" panose="020F0502020204030204" pitchFamily="34" charset="0"/>
              </a:rPr>
              <a:t>Panayi</a:t>
            </a:r>
            <a:r>
              <a:rPr lang="en-US" cap="none" dirty="0">
                <a:latin typeface="Calibri" panose="020F0502020204030204" pitchFamily="34" charset="0"/>
                <a:cs typeface="Calibri" panose="020F0502020204030204" pitchFamily="34" charset="0"/>
              </a:rPr>
              <a:t>, E. (2016). Understanding modern banking ledgers through blockchain technologies: Future of transaction processing and smart contracts on the internet of money. Banking and Financial Technologies, 2(3), 1-10.</a:t>
            </a:r>
          </a:p>
          <a:p>
            <a:pPr marL="354013" indent="-354013" algn="just">
              <a:buNone/>
            </a:pPr>
            <a:r>
              <a:rPr lang="en-US" cap="none" dirty="0">
                <a:latin typeface="Calibri" panose="020F0502020204030204" pitchFamily="34" charset="0"/>
                <a:cs typeface="Calibri" panose="020F0502020204030204" pitchFamily="34" charset="0"/>
              </a:rPr>
              <a:t>[6]	Mackey, T. K., &amp; </a:t>
            </a:r>
            <a:r>
              <a:rPr lang="en-US" cap="none" dirty="0" err="1">
                <a:latin typeface="Calibri" panose="020F0502020204030204" pitchFamily="34" charset="0"/>
                <a:cs typeface="Calibri" panose="020F0502020204030204" pitchFamily="34" charset="0"/>
              </a:rPr>
              <a:t>Nayyar</a:t>
            </a:r>
            <a:r>
              <a:rPr lang="en-US" cap="none" dirty="0">
                <a:latin typeface="Calibri" panose="020F0502020204030204" pitchFamily="34" charset="0"/>
                <a:cs typeface="Calibri" panose="020F0502020204030204" pitchFamily="34" charset="0"/>
              </a:rPr>
              <a:t>, G. (2016). Digital counterfeiting: The role of the internet in counterfeit drug supply. Journal of Pharmaceutical Policy and Practice, 9(1), 6.</a:t>
            </a:r>
          </a:p>
        </p:txBody>
      </p:sp>
    </p:spTree>
    <p:extLst>
      <p:ext uri="{BB962C8B-B14F-4D97-AF65-F5344CB8AC3E}">
        <p14:creationId xmlns:p14="http://schemas.microsoft.com/office/powerpoint/2010/main" val="2694707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524" y="382544"/>
            <a:ext cx="10364451" cy="891628"/>
          </a:xfrm>
        </p:spPr>
        <p:txBody>
          <a:bodyPr/>
          <a:lstStyle/>
          <a:p>
            <a:r>
              <a:rPr lang="en-US" b="1" dirty="0">
                <a:latin typeface="Calibri" panose="020F0502020204030204" pitchFamily="34" charset="0"/>
                <a:cs typeface="Calibri" panose="020F0502020204030204" pitchFamily="34" charset="0"/>
              </a:rPr>
              <a:t>References</a:t>
            </a:r>
          </a:p>
        </p:txBody>
      </p:sp>
      <p:sp>
        <p:nvSpPr>
          <p:cNvPr id="3" name="Content Placeholder 2"/>
          <p:cNvSpPr>
            <a:spLocks noGrp="1"/>
          </p:cNvSpPr>
          <p:nvPr>
            <p:ph sz="quarter" idx="13"/>
          </p:nvPr>
        </p:nvSpPr>
        <p:spPr>
          <a:xfrm>
            <a:off x="348152" y="1317970"/>
            <a:ext cx="11526981" cy="5200818"/>
          </a:xfrm>
        </p:spPr>
        <p:txBody>
          <a:bodyPr>
            <a:noAutofit/>
          </a:bodyPr>
          <a:lstStyle/>
          <a:p>
            <a:pPr marL="354013" indent="-354013" algn="just">
              <a:buNone/>
            </a:pPr>
            <a:r>
              <a:rPr lang="en-US" cap="none" dirty="0">
                <a:latin typeface="Calibri" panose="020F0502020204030204" pitchFamily="34" charset="0"/>
                <a:cs typeface="Calibri" panose="020F0502020204030204" pitchFamily="34" charset="0"/>
              </a:rPr>
              <a:t>[7]	Wang, Y., Han, J., &amp; </a:t>
            </a:r>
            <a:r>
              <a:rPr lang="en-US" cap="none" dirty="0" err="1">
                <a:latin typeface="Calibri" panose="020F0502020204030204" pitchFamily="34" charset="0"/>
                <a:cs typeface="Calibri" panose="020F0502020204030204" pitchFamily="34" charset="0"/>
              </a:rPr>
              <a:t>Bao</a:t>
            </a:r>
            <a:r>
              <a:rPr lang="en-US" cap="none" dirty="0">
                <a:latin typeface="Calibri" panose="020F0502020204030204" pitchFamily="34" charset="0"/>
                <a:cs typeface="Calibri" panose="020F0502020204030204" pitchFamily="34" charset="0"/>
              </a:rPr>
              <a:t>, H. (2019). Blockchain-based solutions for the pharmaceutical supply chain: A review. Journal of Healthcare Engineering, 2019, 1-11. </a:t>
            </a:r>
          </a:p>
          <a:p>
            <a:pPr marL="354013" indent="-354013" algn="just">
              <a:buNone/>
            </a:pPr>
            <a:r>
              <a:rPr lang="en-US" cap="none" dirty="0">
                <a:latin typeface="Calibri" panose="020F0502020204030204" pitchFamily="34" charset="0"/>
                <a:cs typeface="Calibri" panose="020F0502020204030204" pitchFamily="34" charset="0"/>
              </a:rPr>
              <a:t>[8]	</a:t>
            </a:r>
            <a:r>
              <a:rPr lang="en-US" cap="none" dirty="0" err="1">
                <a:latin typeface="Calibri" panose="020F0502020204030204" pitchFamily="34" charset="0"/>
                <a:cs typeface="Calibri" panose="020F0502020204030204" pitchFamily="34" charset="0"/>
              </a:rPr>
              <a:t>Bauwens</a:t>
            </a:r>
            <a:r>
              <a:rPr lang="en-US" cap="none" dirty="0">
                <a:latin typeface="Calibri" panose="020F0502020204030204" pitchFamily="34" charset="0"/>
                <a:cs typeface="Calibri" panose="020F0502020204030204" pitchFamily="34" charset="0"/>
              </a:rPr>
              <a:t>, L., &amp; </a:t>
            </a:r>
            <a:r>
              <a:rPr lang="en-US" cap="none" dirty="0" err="1">
                <a:latin typeface="Calibri" panose="020F0502020204030204" pitchFamily="34" charset="0"/>
                <a:cs typeface="Calibri" panose="020F0502020204030204" pitchFamily="34" charset="0"/>
              </a:rPr>
              <a:t>Bruynseels</a:t>
            </a:r>
            <a:r>
              <a:rPr lang="en-US" cap="none" dirty="0">
                <a:latin typeface="Calibri" panose="020F0502020204030204" pitchFamily="34" charset="0"/>
                <a:cs typeface="Calibri" panose="020F0502020204030204" pitchFamily="34" charset="0"/>
              </a:rPr>
              <a:t>, K. (2020). Blockchain for pharmaceuticals: A review of the literature. Journal of Business Research, 114, 311-319.</a:t>
            </a:r>
          </a:p>
          <a:p>
            <a:pPr marL="354013" indent="-354013" algn="just">
              <a:buNone/>
            </a:pPr>
            <a:r>
              <a:rPr lang="en-US" cap="none" dirty="0">
                <a:latin typeface="Calibri" panose="020F0502020204030204" pitchFamily="34" charset="0"/>
                <a:cs typeface="Calibri" panose="020F0502020204030204" pitchFamily="34" charset="0"/>
              </a:rPr>
              <a:t>[9]	</a:t>
            </a:r>
            <a:r>
              <a:rPr lang="en-US" cap="none" dirty="0" err="1">
                <a:latin typeface="Calibri" panose="020F0502020204030204" pitchFamily="34" charset="0"/>
                <a:cs typeface="Calibri" panose="020F0502020204030204" pitchFamily="34" charset="0"/>
              </a:rPr>
              <a:t>Armer</a:t>
            </a:r>
            <a:r>
              <a:rPr lang="en-US" cap="none" dirty="0">
                <a:latin typeface="Calibri" panose="020F0502020204030204" pitchFamily="34" charset="0"/>
                <a:cs typeface="Calibri" panose="020F0502020204030204" pitchFamily="34" charset="0"/>
              </a:rPr>
              <a:t>, J. M., &amp; </a:t>
            </a:r>
            <a:r>
              <a:rPr lang="en-US" cap="none" dirty="0" err="1">
                <a:latin typeface="Calibri" panose="020F0502020204030204" pitchFamily="34" charset="0"/>
                <a:cs typeface="Calibri" panose="020F0502020204030204" pitchFamily="34" charset="0"/>
              </a:rPr>
              <a:t>Catterall</a:t>
            </a:r>
            <a:r>
              <a:rPr lang="en-US" cap="none" dirty="0">
                <a:latin typeface="Calibri" panose="020F0502020204030204" pitchFamily="34" charset="0"/>
                <a:cs typeface="Calibri" panose="020F0502020204030204" pitchFamily="34" charset="0"/>
              </a:rPr>
              <a:t>, S. (2019). Applying blockchain technology to healthcare and pharmaceutical supply chains. Health Information Science and Systems, 7(1), 12. </a:t>
            </a:r>
          </a:p>
          <a:p>
            <a:pPr marL="354013" indent="-354013" algn="just">
              <a:buNone/>
            </a:pPr>
            <a:r>
              <a:rPr lang="en-US" cap="none" dirty="0">
                <a:latin typeface="Calibri" panose="020F0502020204030204" pitchFamily="34" charset="0"/>
                <a:cs typeface="Calibri" panose="020F0502020204030204" pitchFamily="34" charset="0"/>
              </a:rPr>
              <a:t>[10]	Gordon, W. J., &amp; </a:t>
            </a:r>
            <a:r>
              <a:rPr lang="en-US" cap="none" dirty="0" err="1">
                <a:latin typeface="Calibri" panose="020F0502020204030204" pitchFamily="34" charset="0"/>
                <a:cs typeface="Calibri" panose="020F0502020204030204" pitchFamily="34" charset="0"/>
              </a:rPr>
              <a:t>Catalini</a:t>
            </a:r>
            <a:r>
              <a:rPr lang="en-US" cap="none" dirty="0">
                <a:latin typeface="Calibri" panose="020F0502020204030204" pitchFamily="34" charset="0"/>
                <a:cs typeface="Calibri" panose="020F0502020204030204" pitchFamily="34" charset="0"/>
              </a:rPr>
              <a:t>, C. (2018). Blockchain technology for healthcare: A systematic review. Journal of Biomedical Informatics, 86, 27-35. </a:t>
            </a:r>
          </a:p>
          <a:p>
            <a:pPr marL="354013" indent="-354013" algn="just">
              <a:buNone/>
            </a:pPr>
            <a:r>
              <a:rPr lang="en-US" cap="none" dirty="0">
                <a:latin typeface="Calibri" panose="020F0502020204030204" pitchFamily="34" charset="0"/>
                <a:cs typeface="Calibri" panose="020F0502020204030204" pitchFamily="34" charset="0"/>
              </a:rPr>
              <a:t>[11]	Deloitte. (2020). The future of blockchain in healthcare: Enhancing transparency and efficiency in the supply chain. Deloitte Insights. </a:t>
            </a:r>
          </a:p>
          <a:p>
            <a:pPr marL="354013" indent="-354013" algn="just">
              <a:buNone/>
            </a:pPr>
            <a:r>
              <a:rPr lang="en-US" cap="none" dirty="0">
                <a:latin typeface="Calibri" panose="020F0502020204030204" pitchFamily="34" charset="0"/>
                <a:cs typeface="Calibri" panose="020F0502020204030204" pitchFamily="34" charset="0"/>
              </a:rPr>
              <a:t>[12]	</a:t>
            </a:r>
            <a:r>
              <a:rPr lang="en-US" cap="none" dirty="0" err="1">
                <a:latin typeface="Calibri" panose="020F0502020204030204" pitchFamily="34" charset="0"/>
                <a:cs typeface="Calibri" panose="020F0502020204030204" pitchFamily="34" charset="0"/>
              </a:rPr>
              <a:t>Zheng</a:t>
            </a:r>
            <a:r>
              <a:rPr lang="en-US" cap="none" dirty="0">
                <a:latin typeface="Calibri" panose="020F0502020204030204" pitchFamily="34" charset="0"/>
                <a:cs typeface="Calibri" panose="020F0502020204030204" pitchFamily="34" charset="0"/>
              </a:rPr>
              <a:t>, Z., </a:t>
            </a:r>
            <a:r>
              <a:rPr lang="en-US" cap="none" dirty="0" err="1">
                <a:latin typeface="Calibri" panose="020F0502020204030204" pitchFamily="34" charset="0"/>
                <a:cs typeface="Calibri" panose="020F0502020204030204" pitchFamily="34" charset="0"/>
              </a:rPr>
              <a:t>Zheng</a:t>
            </a:r>
            <a:r>
              <a:rPr lang="en-US" cap="none" dirty="0">
                <a:latin typeface="Calibri" panose="020F0502020204030204" pitchFamily="34" charset="0"/>
                <a:cs typeface="Calibri" panose="020F0502020204030204" pitchFamily="34" charset="0"/>
              </a:rPr>
              <a:t>, Y., &amp; Wu, J. (2020). A survey on blockchain for healthcare: Applications, opportunities, and threats. IEEE Access, 8, 111571-111588. </a:t>
            </a:r>
          </a:p>
        </p:txBody>
      </p:sp>
    </p:spTree>
    <p:extLst>
      <p:ext uri="{BB962C8B-B14F-4D97-AF65-F5344CB8AC3E}">
        <p14:creationId xmlns:p14="http://schemas.microsoft.com/office/powerpoint/2010/main" val="7380415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75" y="618518"/>
            <a:ext cx="10364451" cy="891628"/>
          </a:xfrm>
        </p:spPr>
        <p:txBody>
          <a:bodyPr/>
          <a:lstStyle/>
          <a:p>
            <a:endParaRPr lang="en-US" b="1" dirty="0">
              <a:latin typeface="Calibri" panose="020F0502020204030204" pitchFamily="34" charset="0"/>
              <a:cs typeface="Calibri" panose="020F0502020204030204" pitchFamily="34" charset="0"/>
            </a:endParaRPr>
          </a:p>
        </p:txBody>
      </p:sp>
      <p:pic>
        <p:nvPicPr>
          <p:cNvPr id="5" name="Content Placeholder 4">
            <a:extLst>
              <a:ext uri="{FF2B5EF4-FFF2-40B4-BE49-F238E27FC236}">
                <a16:creationId xmlns:a16="http://schemas.microsoft.com/office/drawing/2014/main" id="{32B88AF9-3EDE-0770-6CF8-C209D52B3162}"/>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56296" y="0"/>
            <a:ext cx="12248295" cy="6858000"/>
          </a:xfrm>
        </p:spPr>
      </p:pic>
    </p:spTree>
    <p:extLst>
      <p:ext uri="{BB962C8B-B14F-4D97-AF65-F5344CB8AC3E}">
        <p14:creationId xmlns:p14="http://schemas.microsoft.com/office/powerpoint/2010/main" val="269470758"/>
      </p:ext>
    </p:extLst>
  </p:cSld>
  <p:clrMapOvr>
    <a:masterClrMapping/>
  </p:clrMapOvr>
  <p:transition spd="slow">
    <p:push dir="u"/>
  </p:transition>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797</TotalTime>
  <Words>2396</Words>
  <Application>Microsoft Office PowerPoint</Application>
  <PresentationFormat>Widescreen</PresentationFormat>
  <Paragraphs>204</Paragraphs>
  <Slides>34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Calibri</vt:lpstr>
      <vt:lpstr>Cambria</vt:lpstr>
      <vt:lpstr>Times New Roman</vt:lpstr>
      <vt:lpstr>Trebuchet MS</vt:lpstr>
      <vt:lpstr>Wingdings</vt:lpstr>
      <vt:lpstr>Wingdings 3</vt:lpstr>
      <vt:lpstr>Facet</vt:lpstr>
      <vt:lpstr>Pharma and Counterfeit Drug Prevention Supply Chain and Smart Contracts System in Blockchain</vt:lpstr>
      <vt:lpstr>Contents</vt:lpstr>
      <vt:lpstr>Introduction</vt:lpstr>
      <vt:lpstr>Literature survey</vt:lpstr>
      <vt:lpstr>Literature survey</vt:lpstr>
      <vt:lpstr>Motivation</vt:lpstr>
      <vt:lpstr>Problem Statement </vt:lpstr>
      <vt:lpstr>OBJECTIVES OF WORK</vt:lpstr>
      <vt:lpstr>Proposed System Architecture</vt:lpstr>
      <vt:lpstr>Mathematical Model </vt:lpstr>
      <vt:lpstr>Mathematical Model (Cont..)</vt:lpstr>
      <vt:lpstr>Modules of the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ALGORITHM</vt:lpstr>
      <vt:lpstr>PowerPoint Presentation</vt:lpstr>
      <vt:lpstr>PowerPoint Presentation</vt:lpstr>
      <vt:lpstr>PowerPoint Presentation</vt:lpstr>
      <vt:lpstr>PowerPoint Presentation</vt:lpstr>
      <vt:lpstr>Design of the system</vt:lpstr>
      <vt:lpstr>Design of the system</vt:lpstr>
      <vt:lpstr>Design of the system</vt:lpstr>
      <vt:lpstr>Design of the system</vt:lpstr>
      <vt:lpstr>Conclusion</vt:lpstr>
      <vt:lpstr>References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 Dimensional Health Care Privacy Approach using Blockchain Technology with Fog Computing for Health insurance Companies</dc:title>
  <dc:creator>admin</dc:creator>
  <cp:lastModifiedBy>Tanmay Mahale</cp:lastModifiedBy>
  <cp:revision>151</cp:revision>
  <dcterms:created xsi:type="dcterms:W3CDTF">2019-11-12T07:23:43Z</dcterms:created>
  <dcterms:modified xsi:type="dcterms:W3CDTF">2025-06-09T12:44:04Z</dcterms:modified>
</cp:coreProperties>
</file>